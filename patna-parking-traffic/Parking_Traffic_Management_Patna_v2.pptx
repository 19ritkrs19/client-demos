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na_cover.jpg"/>
          <p:cNvPicPr>
            <a:picLocks noChangeAspect="1"/>
          </p:cNvPicPr>
          <p:nvPr/>
        </p:nvPicPr>
        <p:blipFill>
          <a:blip r:embed="rId2"/>
          <a:srcRect t="14708" b="14708"/>
          <a:stretch>
            <a:fillRect/>
          </a:stretch>
        </p:blipFill>
        <p:spPr>
          <a:xfrm>
            <a:off x="5715000" y="0"/>
            <a:ext cx="6476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" cy="338328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Parking &amp; Traffic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F28C28"/>
                </a:solidFill>
                <a:latin typeface="Calibri"/>
              </a:rPr>
              <a:t>Issues and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FC3D6"/>
                </a:solidFill>
                <a:latin typeface="Calibri"/>
              </a:rPr>
              <a:t>Session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Pourush Agarwal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DySP Traffic Patna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Why parking &amp; traffic matter for a city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Key parking issues &amp; the role of sign boards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Traffic management challenges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Special situations: VIP movement &amp; metro diversion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Root causes and their impact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Solutions — smarter parking, signage &amp; real-time updates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Smart technology in traffic management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Case study: Pune parking reform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Action roadmap for Patna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Why Parking &amp; Traffic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Traffic reflects a city's quality of life &amp; governance</a:t>
            </a:r>
          </a:p>
          <a:p>
            <a:pPr marL="274320" indent="-274320">
              <a:spcAft>
                <a:spcPts val="1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Poor parking eats into scarce public road space</a:t>
            </a:r>
          </a:p>
          <a:p>
            <a:pPr marL="274320" indent="-274320">
              <a:spcAft>
                <a:spcPts val="1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Congestion means lost productivity, fuel and time</a:t>
            </a:r>
          </a:p>
          <a:p>
            <a:pPr marL="274320" indent="-274320">
              <a:spcAft>
                <a:spcPts val="1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It directly affects safety, emergency access &amp; emissions</a:t>
            </a:r>
          </a:p>
          <a:p>
            <a:pPr marL="274320" indent="-274320">
              <a:spcAft>
                <a:spcPts val="1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Well-managed mobility builds public trust &amp; attracts investment</a:t>
            </a:r>
          </a:p>
          <a:p>
            <a:pPr marL="274320" indent="-274320">
              <a:spcAft>
                <a:spcPts val="1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Orderly streets improve pedestrian safety and business footfall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Key Parking Issues in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7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Illegal roadside parking on both sides of arterial roads</a:t>
            </a:r>
          </a:p>
          <a:p>
            <a:pPr marL="274320" indent="-274320">
              <a:spcAft>
                <a:spcPts val="7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Haphazard parking chokes market roads, as seen in Wakarganj</a:t>
            </a:r>
          </a:p>
          <a:p>
            <a:pPr marL="274320" indent="-274320">
              <a:spcAft>
                <a:spcPts val="7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Vehicles ignore signage — parking right under 'No Parking' boards</a:t>
            </a:r>
          </a:p>
          <a:p>
            <a:pPr marL="274320" indent="-274320">
              <a:spcAft>
                <a:spcPts val="7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Autos &amp; e-rickshaws halt anywhere near stations &amp; markets</a:t>
            </a:r>
          </a:p>
          <a:p>
            <a:pPr marL="274320" indent="-274320">
              <a:spcAft>
                <a:spcPts val="7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Very little organised, paid off-street parking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592427" y="3840480"/>
            <a:ext cx="4343400" cy="2688335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tna_noparking.jpg"/>
          <p:cNvPicPr>
            <a:picLocks noChangeAspect="1"/>
          </p:cNvPicPr>
          <p:nvPr/>
        </p:nvPicPr>
        <p:blipFill>
          <a:blip r:embed="rId2"/>
          <a:srcRect t="5846" b="5846"/>
          <a:stretch>
            <a:fillRect/>
          </a:stretch>
        </p:blipFill>
        <p:spPr>
          <a:xfrm>
            <a:off x="1665579" y="3913632"/>
            <a:ext cx="4197096" cy="208483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665579" y="6016751"/>
            <a:ext cx="419709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5579" y="6016751"/>
            <a:ext cx="4197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Parking right under a 'No Parking' 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5867" y="3840480"/>
            <a:ext cx="4343400" cy="2688335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tna_haphazard_wakarganj.jpg"/>
          <p:cNvPicPr>
            <a:picLocks noChangeAspect="1"/>
          </p:cNvPicPr>
          <p:nvPr/>
        </p:nvPicPr>
        <p:blipFill>
          <a:blip r:embed="rId3"/>
          <a:srcRect t="5846" b="5846"/>
          <a:stretch>
            <a:fillRect/>
          </a:stretch>
        </p:blipFill>
        <p:spPr>
          <a:xfrm>
            <a:off x="6329019" y="3913632"/>
            <a:ext cx="4197096" cy="208483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329019" y="6016751"/>
            <a:ext cx="419709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9019" y="6016751"/>
            <a:ext cx="4197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Haphazard parking in Wakarganj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Traffic Management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6263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Mixed traffic — cars, 2-wheelers, autos, e-rickshaws, carts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Traffic peaks during school and office hours at key locations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Severe manpower shortage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Weak public transport pushes people to private vehicles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Only ~8% of city area is road (well below the 25% norm)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Frequent VIP movement disrupts normal traffic flow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Metro construction forces route diversions &amp; lane closures</a:t>
            </a:r>
          </a:p>
          <a:p>
            <a:pPr marL="274320" indent="-274320">
              <a:spcAft>
                <a:spcPts val="11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Encroachment &amp; construction shrink usable road width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995160" y="1371600"/>
            <a:ext cx="4709160" cy="4764024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tna_regulation.jpg"/>
          <p:cNvPicPr>
            <a:picLocks noChangeAspect="1"/>
          </p:cNvPicPr>
          <p:nvPr/>
        </p:nvPicPr>
        <p:blipFill>
          <a:blip r:embed="rId2"/>
          <a:srcRect l="13466" r="13466"/>
          <a:stretch>
            <a:fillRect/>
          </a:stretch>
        </p:blipFill>
        <p:spPr>
          <a:xfrm>
            <a:off x="7068312" y="1444752"/>
            <a:ext cx="4562856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068312" y="5623560"/>
            <a:ext cx="456285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68312" y="5623560"/>
            <a:ext cx="45628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Patna Traffic Police regulating a busy junction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Special Traffic Situations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07492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6C3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371600"/>
            <a:ext cx="4709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6C3A8E"/>
                </a:solidFill>
                <a:latin typeface="Calibri"/>
              </a:rPr>
              <a:t>VIP Movement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828800"/>
            <a:ext cx="4709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Route clearance &amp; holding of traffic during transit</a:t>
            </a:r>
          </a:p>
          <a:p>
            <a:pPr marL="274320" indent="-274320">
              <a:spcAft>
                <a:spcPts val="5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Advance planning with escort &amp; pilot coordination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280160"/>
            <a:ext cx="507492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47688" y="1371600"/>
            <a:ext cx="4709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Metro Diversion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28800"/>
            <a:ext cx="4709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Lane closures around metro construction sites</a:t>
            </a:r>
          </a:p>
          <a:p>
            <a:pPr marL="274320" indent="-274320">
              <a:spcAft>
                <a:spcPts val="5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Clear signage + advance public communication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3927" y="3200400"/>
            <a:ext cx="7863840" cy="32552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tna_boringroad.jpg"/>
          <p:cNvPicPr>
            <a:picLocks noChangeAspect="1"/>
          </p:cNvPicPr>
          <p:nvPr/>
        </p:nvPicPr>
        <p:blipFill>
          <a:blip r:embed="rId2"/>
          <a:srcRect t="19443" b="19443"/>
          <a:stretch>
            <a:fillRect/>
          </a:stretch>
        </p:blipFill>
        <p:spPr>
          <a:xfrm>
            <a:off x="2237079" y="3273552"/>
            <a:ext cx="7717536" cy="265176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237079" y="5943600"/>
            <a:ext cx="771753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7079" y="5943600"/>
            <a:ext cx="7717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On-ground regulation at Boring Road crossing, Patna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Root Causes Behind the Chaos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47472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Rapid Motorisation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Vehicle ownership rising faster than infrastructure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347472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600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Weak Enforcement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94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Low penalties and poor signage compliance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17320"/>
            <a:ext cx="347472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600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No Parking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194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Parking treated as free &amp; unlimited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347472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Land-use Mismatch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80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Dense commercial zones with no parking norms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03320"/>
            <a:ext cx="347472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Weak Public Transport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480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Few reliable last-mile options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703320"/>
            <a:ext cx="3474720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Fragmented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4480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Multiple agencies, unclear ownership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Impact of Poor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240280" cy="54864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2240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240280" cy="283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Lost man-hours in jams</a:t>
            </a:r>
          </a:p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Higher fuel &amp; logistics cost</a:t>
            </a:r>
          </a:p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Reduced business footfall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8648" y="1371600"/>
            <a:ext cx="2240280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371600"/>
            <a:ext cx="2240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Environmental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8648" y="1920240"/>
            <a:ext cx="2240280" cy="283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2084831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Higher vehicular emissions</a:t>
            </a:r>
          </a:p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Idling pollution &amp; noise</a:t>
            </a:r>
          </a:p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Poor air quality (AQI)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8656" y="1371600"/>
            <a:ext cx="224028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1371600"/>
            <a:ext cx="2240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Social &amp; 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8656" y="1920240"/>
            <a:ext cx="2240280" cy="283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5816" y="2084831"/>
            <a:ext cx="1965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More accidents &amp; fatalities</a:t>
            </a:r>
          </a:p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Blocked emergency vehicles</a:t>
            </a:r>
          </a:p>
          <a:p>
            <a:pPr marL="274320" indent="-274320">
              <a:spcAft>
                <a:spcPts val="10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Stress &amp; road 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71600"/>
            <a:ext cx="3886200" cy="3483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tna_impact.jpg"/>
          <p:cNvPicPr>
            <a:picLocks noChangeAspect="1"/>
          </p:cNvPicPr>
          <p:nvPr/>
        </p:nvPicPr>
        <p:blipFill>
          <a:blip r:embed="rId2"/>
          <a:srcRect l="13482" r="13482"/>
          <a:stretch>
            <a:fillRect/>
          </a:stretch>
        </p:blipFill>
        <p:spPr>
          <a:xfrm>
            <a:off x="7891272" y="1444752"/>
            <a:ext cx="3739896" cy="288036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891272" y="4343400"/>
            <a:ext cx="373989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1272" y="4343400"/>
            <a:ext cx="37398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Congestion on a Patna arterial road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Solutions: Smarter Parking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5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Priced, demand-based on-street parking (pay-and-park)</a:t>
            </a:r>
          </a:p>
          <a:p>
            <a:pPr marL="274320" indent="-274320">
              <a:spcAft>
                <a:spcPts val="15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Clearly marked bays with barricades &amp; discipline</a:t>
            </a:r>
          </a:p>
          <a:p>
            <a:pPr marL="274320" indent="-274320">
              <a:spcAft>
                <a:spcPts val="15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Multi-level &amp; organised off-street parking</a:t>
            </a:r>
          </a:p>
          <a:p>
            <a:pPr marL="274320" indent="-274320">
              <a:spcAft>
                <a:spcPts val="15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Designated auto and e-rickshaw stands near hubs</a:t>
            </a:r>
          </a:p>
          <a:p>
            <a:pPr marL="274320" indent="-274320">
              <a:spcAft>
                <a:spcPts val="15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Strict enforcement: towing, fines and CCTV</a:t>
            </a:r>
          </a:p>
          <a:p>
            <a:pPr marL="274320" indent="-274320">
              <a:spcAft>
                <a:spcPts val="15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Parking norms in building bye-laws for new projects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3720" y="1371600"/>
            <a:ext cx="4800600" cy="4764024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76872" y="5623560"/>
            <a:ext cx="465429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76872" y="5623560"/>
            <a:ext cx="4654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Organised auto stand with barricades — Patna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rcRect l="18537" r="18537"/>
          <a:stretch>
            <a:fillRect/>
          </a:stretch>
        </p:blipFill>
        <p:spPr>
          <a:xfrm>
            <a:off x="6976872" y="1444752"/>
            <a:ext cx="4654296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Solutions: Traffic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2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Clear, well-placed sign boards with strict enforcement</a:t>
            </a:r>
          </a:p>
          <a:p>
            <a:pPr marL="274320" indent="-274320">
              <a:spcAft>
                <a:spcPts val="2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Real-time updates to public — social media, apps &amp; alerts</a:t>
            </a:r>
          </a:p>
          <a:p>
            <a:pPr marL="274320" indent="-274320">
              <a:spcAft>
                <a:spcPts val="2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Advance communication for VIP movement &amp; metro diversions</a:t>
            </a:r>
          </a:p>
          <a:p>
            <a:pPr marL="274320" indent="-274320">
              <a:spcAft>
                <a:spcPts val="2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Adaptive / synchronised signals on key corridors (ITS)</a:t>
            </a:r>
          </a:p>
          <a:p>
            <a:pPr marL="274320" indent="-274320">
              <a:spcAft>
                <a:spcPts val="2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Dedicated lanes for buses &amp; non-motorised transport</a:t>
            </a:r>
          </a:p>
          <a:p>
            <a:pPr marL="274320" indent="-274320">
              <a:spcAft>
                <a:spcPts val="26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Community awareness by NCC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50876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2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Joint and coordinated anti-encroachment drives</a:t>
            </a:r>
          </a:p>
          <a:p>
            <a:pPr marL="274320" indent="-274320">
              <a:spcAft>
                <a:spcPts val="2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Elevated corridors and flyovers</a:t>
            </a:r>
          </a:p>
          <a:p>
            <a:pPr marL="566928" indent="-292608">
              <a:spcAft>
                <a:spcPts val="2200"/>
              </a:spcAft>
            </a:pPr>
            <a:r>
              <a:rPr sz="1600">
                <a:solidFill>
                  <a:srgbClr val="555F6B"/>
                </a:solidFill>
                <a:latin typeface="Calibri"/>
              </a:rPr>
              <a:t>     – Karbigahiya–Mithapur Flyover</a:t>
            </a:r>
          </a:p>
          <a:p>
            <a:pPr marL="566928" indent="-292608">
              <a:spcAft>
                <a:spcPts val="2200"/>
              </a:spcAft>
            </a:pPr>
            <a:r>
              <a:rPr sz="1600">
                <a:solidFill>
                  <a:srgbClr val="555F6B"/>
                </a:solidFill>
                <a:latin typeface="Calibri"/>
              </a:rPr>
              <a:t>     – Mithapur–Sipara Elevated Road</a:t>
            </a:r>
          </a:p>
          <a:p>
            <a:pPr marL="274320" indent="-274320">
              <a:spcAft>
                <a:spcPts val="2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Ring road development</a:t>
            </a:r>
          </a:p>
          <a:p>
            <a:pPr marL="274320" indent="-274320">
              <a:spcAft>
                <a:spcPts val="2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Smart management : ICCC</a:t>
            </a:r>
          </a:p>
          <a:p>
            <a:pPr marL="274320" indent="-274320">
              <a:spcAft>
                <a:spcPts val="2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Strengthen public transport &amp; last-mile connectivity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Role of Smart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474720" cy="2057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28C28"/>
                </a:solidFill>
                <a:latin typeface="Calibri"/>
              </a:rPr>
              <a:t>Smart Sensors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Detect free and occupied parking bays in real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3474720" cy="2057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600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28C28"/>
                </a:solidFill>
                <a:latin typeface="Calibri"/>
              </a:rPr>
              <a:t>Digital Sign Boards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94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Dynamic messages for diversions &amp; warnings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17320"/>
            <a:ext cx="3474720" cy="2057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600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28C28"/>
                </a:solidFill>
                <a:latin typeface="Calibri"/>
              </a:rPr>
              <a:t>ANPR Cameras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194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Automatic number-plate based enforcement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3474720" cy="2057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28C28"/>
                </a:solidFill>
                <a:latin typeface="Calibri"/>
              </a:rPr>
              <a:t>Adaptive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80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Signal timing based on live traffic 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03320"/>
            <a:ext cx="3474720" cy="2057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28C28"/>
                </a:solidFill>
                <a:latin typeface="Calibri"/>
              </a:rPr>
              <a:t>Real-time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480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Live traffic &amp; diversion information to citizens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703320"/>
            <a:ext cx="3474720" cy="20574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28C28"/>
                </a:solidFill>
                <a:latin typeface="Calibri"/>
              </a:rPr>
              <a:t>Cashless Payment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44805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Transparent, leak-proof parking revenue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Case Study: Pune Parking Reform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28016" cy="45720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6035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B6CA8"/>
                </a:solidFill>
                <a:latin typeface="Calibri"/>
              </a:rPr>
              <a:t>Pune's on-street parking management (with ITDP India)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City parking policy adopted — parking priced, not free</a:t>
            </a:r>
          </a:p>
          <a:p>
            <a:pPr marL="274320" indent="-274320">
              <a:spcAft>
                <a:spcPts val="1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Demand-based pricing in busy zones &amp; peak hours</a:t>
            </a:r>
          </a:p>
          <a:p>
            <a:pPr marL="274320" indent="-274320">
              <a:spcAft>
                <a:spcPts val="1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New no-parking zones</a:t>
            </a:r>
          </a:p>
          <a:p>
            <a:pPr marL="274320" indent="-274320">
              <a:spcAft>
                <a:spcPts val="1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Metro–parking integration — app-based booking and discount for ticket holders</a:t>
            </a:r>
          </a:p>
          <a:p>
            <a:pPr marL="274320" indent="-274320">
              <a:spcAft>
                <a:spcPts val="1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Cashless, self-paying system for transparent revenue</a:t>
            </a:r>
          </a:p>
          <a:p>
            <a:pPr marL="274320" indent="-274320">
              <a:spcAft>
                <a:spcPts val="1200"/>
              </a:spcAft>
            </a:pPr>
            <a:r>
              <a:rPr sz="1900">
                <a:solidFill>
                  <a:srgbClr val="0B2E4F"/>
                </a:solidFill>
                <a:latin typeface="Calibri"/>
              </a:rPr>
              <a:t>•  Result: less haphazard parking &amp; smoother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1371600"/>
            <a:ext cx="4480560" cy="3529584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96912" y="4389120"/>
            <a:ext cx="4334256" cy="4572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96912" y="4389120"/>
            <a:ext cx="43342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Integrated parking &amp; transit facility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rcRect l="15147" r="15147"/>
          <a:stretch>
            <a:fillRect/>
          </a:stretch>
        </p:blipFill>
        <p:spPr>
          <a:xfrm>
            <a:off x="7296912" y="1444752"/>
            <a:ext cx="433425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Action Roadmap for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28C28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4008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611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Short Term (0-6 months)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61188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Fix hotspots — Boring Road, Station Road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Demarcate bays with clear signage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Clear encroachments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Enforcement drive and towing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3611880" cy="64008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611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Medium Term (6-18 months)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11680"/>
            <a:ext cx="361188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19456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Adopt a city parking policy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Pay-and-park with mobile app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Real-time updates channel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Metro diversion planning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71600"/>
            <a:ext cx="361188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371600"/>
            <a:ext cx="3611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Long Term (18 months +)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61188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Multi-level parking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City-wide ITS and CCTV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Integrated mobility plan</a:t>
            </a:r>
          </a:p>
          <a:p>
            <a:pPr marL="274320" indent="-274320">
              <a:spcAft>
                <a:spcPts val="1300"/>
              </a:spcAft>
            </a:pPr>
            <a:r>
              <a:rPr sz="1500">
                <a:solidFill>
                  <a:srgbClr val="0B2E4F"/>
                </a:solidFill>
                <a:latin typeface="Calibri"/>
              </a:rPr>
              <a:t>•  Data-driven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Already begun: In late 2025 Patna traffic police banned car and auto parking on Income Tax Golambar–Dak Bungalow and Budh Marg–GPO Golambar.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424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Parking is a policy problem, not just an infrastructure one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Sign boards must be backed by real enforcement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Plan ahead for VIP movement and metro diversions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Real-time updates keep citizens informed and reduce chaos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Joint and coordinated efforts by all stakeholders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Holistic approach by city managers</a:t>
            </a:r>
          </a:p>
          <a:p>
            <a:pPr marL="274320" indent="-274320">
              <a:spcAft>
                <a:spcPts val="13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•  Patna can adapt proven models like Pune's reform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6613855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331720"/>
            <a:ext cx="146304" cy="17373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15468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28C2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43400"/>
            <a:ext cx="4937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FC3D6"/>
                </a:solidFill>
                <a:latin typeface="Calibri"/>
              </a:rPr>
              <a:t>Session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66344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Pourush Agarwal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12064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DySP Traffic Patna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rcRect l="26762" r="26762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