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E4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tna_cover.jpg"/>
          <p:cNvPicPr>
            <a:picLocks noChangeAspect="1"/>
          </p:cNvPicPr>
          <p:nvPr/>
        </p:nvPicPr>
        <p:blipFill>
          <a:blip r:embed="rId2"/>
          <a:srcRect t="14708" b="14708"/>
          <a:stretch>
            <a:fillRect/>
          </a:stretch>
        </p:blipFill>
        <p:spPr>
          <a:xfrm>
            <a:off x="5715000" y="0"/>
            <a:ext cx="6476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715000" cy="68580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2103120"/>
            <a:ext cx="146304" cy="214884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43000"/>
            <a:ext cx="46634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Parking &amp; Traffic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86000"/>
            <a:ext cx="4663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F28C28"/>
                </a:solidFill>
                <a:latin typeface="Calibri"/>
              </a:rPr>
              <a:t>Issues and Challenges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54680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A Session for City Managers  •  Patna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983480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FC3D6"/>
                </a:solidFill>
                <a:latin typeface="Calibri"/>
              </a:rPr>
              <a:t>Session 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303520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Calibri"/>
              </a:rPr>
              <a:t>Pourush Agarwal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80644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28C28"/>
                </a:solidFill>
                <a:latin typeface="Calibri"/>
              </a:rPr>
              <a:t>DySP Traffic Patna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424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Session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82880"/>
            <a:ext cx="6400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28C28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300"/>
              </a:spcAft>
            </a:pPr>
            <a:r>
              <a:rPr sz="1900">
                <a:solidFill>
                  <a:srgbClr val="0B2E4F"/>
                </a:solidFill>
                <a:latin typeface="Calibri"/>
              </a:rPr>
              <a:t>•  Why parking &amp; traffic matter for a city</a:t>
            </a:r>
          </a:p>
          <a:p>
            <a:pPr marL="274320" indent="-274320">
              <a:spcAft>
                <a:spcPts val="1300"/>
              </a:spcAft>
            </a:pPr>
            <a:r>
              <a:rPr sz="1900">
                <a:solidFill>
                  <a:srgbClr val="0B2E4F"/>
                </a:solidFill>
                <a:latin typeface="Calibri"/>
              </a:rPr>
              <a:t>•  Key parking issues &amp; the role of sign boards</a:t>
            </a:r>
          </a:p>
          <a:p>
            <a:pPr marL="274320" indent="-274320">
              <a:spcAft>
                <a:spcPts val="1300"/>
              </a:spcAft>
            </a:pPr>
            <a:r>
              <a:rPr sz="1900">
                <a:solidFill>
                  <a:srgbClr val="0B2E4F"/>
                </a:solidFill>
                <a:latin typeface="Calibri"/>
              </a:rPr>
              <a:t>•  Traffic management challenges</a:t>
            </a:r>
          </a:p>
          <a:p>
            <a:pPr marL="274320" indent="-274320">
              <a:spcAft>
                <a:spcPts val="1300"/>
              </a:spcAft>
            </a:pPr>
            <a:r>
              <a:rPr sz="1900">
                <a:solidFill>
                  <a:srgbClr val="0B2E4F"/>
                </a:solidFill>
                <a:latin typeface="Calibri"/>
              </a:rPr>
              <a:t>•  Special situations: VIP movement &amp; metro diversion</a:t>
            </a:r>
          </a:p>
          <a:p>
            <a:pPr marL="274320" indent="-274320">
              <a:spcAft>
                <a:spcPts val="1300"/>
              </a:spcAft>
            </a:pPr>
            <a:r>
              <a:rPr sz="1900">
                <a:solidFill>
                  <a:srgbClr val="0B2E4F"/>
                </a:solidFill>
                <a:latin typeface="Calibri"/>
              </a:rPr>
              <a:t>•  Root causes and their impact</a:t>
            </a:r>
          </a:p>
          <a:p>
            <a:pPr marL="274320" indent="-274320">
              <a:spcAft>
                <a:spcPts val="1300"/>
              </a:spcAft>
            </a:pPr>
            <a:r>
              <a:rPr sz="1900">
                <a:solidFill>
                  <a:srgbClr val="0B2E4F"/>
                </a:solidFill>
                <a:latin typeface="Calibri"/>
              </a:rPr>
              <a:t>•  Solutions — smarter parking, signage &amp; real-time updates</a:t>
            </a:r>
          </a:p>
          <a:p>
            <a:pPr marL="274320" indent="-274320">
              <a:spcAft>
                <a:spcPts val="1300"/>
              </a:spcAft>
            </a:pPr>
            <a:r>
              <a:rPr sz="1900">
                <a:solidFill>
                  <a:srgbClr val="0B2E4F"/>
                </a:solidFill>
                <a:latin typeface="Calibri"/>
              </a:rPr>
              <a:t>•  Smart technology in traffic management</a:t>
            </a:r>
          </a:p>
          <a:p>
            <a:pPr marL="274320" indent="-274320">
              <a:spcAft>
                <a:spcPts val="1300"/>
              </a:spcAft>
            </a:pPr>
            <a:r>
              <a:rPr sz="1900">
                <a:solidFill>
                  <a:srgbClr val="0B2E4F"/>
                </a:solidFill>
                <a:latin typeface="Calibri"/>
              </a:rPr>
              <a:t>•  Case study: Pune parking reform</a:t>
            </a:r>
          </a:p>
          <a:p>
            <a:pPr marL="274320" indent="-274320">
              <a:spcAft>
                <a:spcPts val="1300"/>
              </a:spcAft>
            </a:pPr>
            <a:r>
              <a:rPr sz="1900">
                <a:solidFill>
                  <a:srgbClr val="0B2E4F"/>
                </a:solidFill>
                <a:latin typeface="Calibri"/>
              </a:rPr>
              <a:t>•  Action roadmap for Patna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424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Why Parking &amp; Traffic Matter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82880"/>
            <a:ext cx="6400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28C28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600"/>
              </a:spcAft>
            </a:pPr>
            <a:r>
              <a:rPr sz="1900">
                <a:solidFill>
                  <a:srgbClr val="0B2E4F"/>
                </a:solidFill>
                <a:latin typeface="Calibri"/>
              </a:rPr>
              <a:t>•  Traffic reflects a city's quality of life &amp; governance</a:t>
            </a:r>
          </a:p>
          <a:p>
            <a:pPr marL="274320" indent="-274320">
              <a:spcAft>
                <a:spcPts val="1600"/>
              </a:spcAft>
            </a:pPr>
            <a:r>
              <a:rPr sz="1900">
                <a:solidFill>
                  <a:srgbClr val="0B2E4F"/>
                </a:solidFill>
                <a:latin typeface="Calibri"/>
              </a:rPr>
              <a:t>•  Poor parking eats into scarce public road space</a:t>
            </a:r>
          </a:p>
          <a:p>
            <a:pPr marL="274320" indent="-274320">
              <a:spcAft>
                <a:spcPts val="1600"/>
              </a:spcAft>
            </a:pPr>
            <a:r>
              <a:rPr sz="1900">
                <a:solidFill>
                  <a:srgbClr val="0B2E4F"/>
                </a:solidFill>
                <a:latin typeface="Calibri"/>
              </a:rPr>
              <a:t>•  Congestion means lost productivity, fuel and time</a:t>
            </a:r>
          </a:p>
          <a:p>
            <a:pPr marL="274320" indent="-274320">
              <a:spcAft>
                <a:spcPts val="1600"/>
              </a:spcAft>
            </a:pPr>
            <a:r>
              <a:rPr sz="1900">
                <a:solidFill>
                  <a:srgbClr val="0B2E4F"/>
                </a:solidFill>
                <a:latin typeface="Calibri"/>
              </a:rPr>
              <a:t>•  It directly affects safety, emergency access &amp; emissions</a:t>
            </a:r>
          </a:p>
          <a:p>
            <a:pPr marL="274320" indent="-274320">
              <a:spcAft>
                <a:spcPts val="1600"/>
              </a:spcAft>
            </a:pPr>
            <a:r>
              <a:rPr sz="1900">
                <a:solidFill>
                  <a:srgbClr val="0B2E4F"/>
                </a:solidFill>
                <a:latin typeface="Calibri"/>
              </a:rPr>
              <a:t>•  Well-managed mobility builds public trust &amp; attracts investment</a:t>
            </a:r>
          </a:p>
          <a:p>
            <a:pPr marL="274320" indent="-274320">
              <a:spcAft>
                <a:spcPts val="1600"/>
              </a:spcAft>
            </a:pPr>
            <a:r>
              <a:rPr sz="1900">
                <a:solidFill>
                  <a:srgbClr val="0B2E4F"/>
                </a:solidFill>
                <a:latin typeface="Calibri"/>
              </a:rPr>
              <a:t>•  Orderly streets improve pedestrian safety and business footfall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424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Key Parking Issues in Patna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82880"/>
            <a:ext cx="6400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28C28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700"/>
              </a:spcAft>
            </a:pPr>
            <a:r>
              <a:rPr sz="1900">
                <a:solidFill>
                  <a:srgbClr val="0B2E4F"/>
                </a:solidFill>
                <a:latin typeface="Calibri"/>
              </a:rPr>
              <a:t>•  Illegal roadside parking on both sides of arterial roads</a:t>
            </a:r>
          </a:p>
          <a:p>
            <a:pPr marL="274320" indent="-274320">
              <a:spcAft>
                <a:spcPts val="700"/>
              </a:spcAft>
            </a:pPr>
            <a:r>
              <a:rPr sz="1900">
                <a:solidFill>
                  <a:srgbClr val="0B2E4F"/>
                </a:solidFill>
                <a:latin typeface="Calibri"/>
              </a:rPr>
              <a:t>•  Haphazard parking chokes market roads, as seen in Wakarganj</a:t>
            </a:r>
          </a:p>
          <a:p>
            <a:pPr marL="274320" indent="-274320">
              <a:spcAft>
                <a:spcPts val="700"/>
              </a:spcAft>
            </a:pPr>
            <a:r>
              <a:rPr sz="1900">
                <a:solidFill>
                  <a:srgbClr val="0B2E4F"/>
                </a:solidFill>
                <a:latin typeface="Calibri"/>
              </a:rPr>
              <a:t>•  Vehicles ignore signage — parking right under 'No Parking' boards</a:t>
            </a:r>
          </a:p>
          <a:p>
            <a:pPr marL="274320" indent="-274320">
              <a:spcAft>
                <a:spcPts val="700"/>
              </a:spcAft>
            </a:pPr>
            <a:r>
              <a:rPr sz="1900">
                <a:solidFill>
                  <a:srgbClr val="0B2E4F"/>
                </a:solidFill>
                <a:latin typeface="Calibri"/>
              </a:rPr>
              <a:t>•  Autos &amp; e-rickshaws halt anywhere near stations &amp; markets</a:t>
            </a:r>
          </a:p>
          <a:p>
            <a:pPr marL="274320" indent="-274320">
              <a:spcAft>
                <a:spcPts val="700"/>
              </a:spcAft>
            </a:pPr>
            <a:r>
              <a:rPr sz="1900">
                <a:solidFill>
                  <a:srgbClr val="0B2E4F"/>
                </a:solidFill>
                <a:latin typeface="Calibri"/>
              </a:rPr>
              <a:t>•  Very little organised, paid off-street parking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1592427" y="3840480"/>
            <a:ext cx="4343400" cy="2688335"/>
          </a:xfrm>
          <a:prstGeom prst="rect">
            <a:avLst/>
          </a:prstGeom>
          <a:solidFill>
            <a:srgbClr val="FFFFFF"/>
          </a:solidFill>
          <a:ln w="19050">
            <a:solidFill>
              <a:srgbClr val="1B6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tna_noparking.jpg"/>
          <p:cNvPicPr>
            <a:picLocks noChangeAspect="1"/>
          </p:cNvPicPr>
          <p:nvPr/>
        </p:nvPicPr>
        <p:blipFill>
          <a:blip r:embed="rId2"/>
          <a:srcRect t="5846" b="5846"/>
          <a:stretch>
            <a:fillRect/>
          </a:stretch>
        </p:blipFill>
        <p:spPr>
          <a:xfrm>
            <a:off x="1665579" y="3913632"/>
            <a:ext cx="4197096" cy="208483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665579" y="6016751"/>
            <a:ext cx="4197096" cy="4572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5579" y="6016751"/>
            <a:ext cx="41970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Parking right under a 'No Parking' board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55867" y="3840480"/>
            <a:ext cx="4343400" cy="2688335"/>
          </a:xfrm>
          <a:prstGeom prst="rect">
            <a:avLst/>
          </a:prstGeom>
          <a:solidFill>
            <a:srgbClr val="FFFFFF"/>
          </a:solidFill>
          <a:ln w="19050">
            <a:solidFill>
              <a:srgbClr val="1B6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atna_haphazard_wakarganj.jpg"/>
          <p:cNvPicPr>
            <a:picLocks noChangeAspect="1"/>
          </p:cNvPicPr>
          <p:nvPr/>
        </p:nvPicPr>
        <p:blipFill>
          <a:blip r:embed="rId3"/>
          <a:srcRect t="5846" b="5846"/>
          <a:stretch>
            <a:fillRect/>
          </a:stretch>
        </p:blipFill>
        <p:spPr>
          <a:xfrm>
            <a:off x="6329019" y="3913632"/>
            <a:ext cx="4197096" cy="2084831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329019" y="6016751"/>
            <a:ext cx="4197096" cy="4572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9019" y="6016751"/>
            <a:ext cx="41970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Haphazard parking in Wakarganj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424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Traffic Management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82880"/>
            <a:ext cx="6400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28C28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62636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100"/>
              </a:spcAft>
            </a:pPr>
            <a:r>
              <a:rPr sz="1900">
                <a:solidFill>
                  <a:srgbClr val="0B2E4F"/>
                </a:solidFill>
                <a:latin typeface="Calibri"/>
              </a:rPr>
              <a:t>•  Mixed traffic — cars, 2-wheelers, autos, e-rickshaws, carts</a:t>
            </a:r>
          </a:p>
          <a:p>
            <a:pPr marL="274320" indent="-274320">
              <a:spcAft>
                <a:spcPts val="1100"/>
              </a:spcAft>
            </a:pPr>
            <a:r>
              <a:rPr sz="1900">
                <a:solidFill>
                  <a:srgbClr val="0B2E4F"/>
                </a:solidFill>
                <a:latin typeface="Calibri"/>
              </a:rPr>
              <a:t>•  Traffic peaks during school and office hours at key locations</a:t>
            </a:r>
          </a:p>
          <a:p>
            <a:pPr marL="274320" indent="-274320">
              <a:spcAft>
                <a:spcPts val="1100"/>
              </a:spcAft>
            </a:pPr>
            <a:r>
              <a:rPr sz="1900">
                <a:solidFill>
                  <a:srgbClr val="0B2E4F"/>
                </a:solidFill>
                <a:latin typeface="Calibri"/>
              </a:rPr>
              <a:t>•  Severe manpower shortage</a:t>
            </a:r>
          </a:p>
          <a:p>
            <a:pPr marL="274320" indent="-274320">
              <a:spcAft>
                <a:spcPts val="1100"/>
              </a:spcAft>
            </a:pPr>
            <a:r>
              <a:rPr sz="1900">
                <a:solidFill>
                  <a:srgbClr val="0B2E4F"/>
                </a:solidFill>
                <a:latin typeface="Calibri"/>
              </a:rPr>
              <a:t>•  Weak public transport pushes people to private vehicles</a:t>
            </a:r>
          </a:p>
          <a:p>
            <a:pPr marL="274320" indent="-274320">
              <a:spcAft>
                <a:spcPts val="1100"/>
              </a:spcAft>
            </a:pPr>
            <a:r>
              <a:rPr sz="1900">
                <a:solidFill>
                  <a:srgbClr val="0B2E4F"/>
                </a:solidFill>
                <a:latin typeface="Calibri"/>
              </a:rPr>
              <a:t>•  Only ~8% of city area is road (well below the 25% norm)</a:t>
            </a:r>
          </a:p>
          <a:p>
            <a:pPr marL="274320" indent="-274320">
              <a:spcAft>
                <a:spcPts val="1100"/>
              </a:spcAft>
            </a:pPr>
            <a:r>
              <a:rPr sz="1900">
                <a:solidFill>
                  <a:srgbClr val="0B2E4F"/>
                </a:solidFill>
                <a:latin typeface="Calibri"/>
              </a:rPr>
              <a:t>•  Frequent VIP movement disrupts normal traffic flow</a:t>
            </a:r>
          </a:p>
          <a:p>
            <a:pPr marL="274320" indent="-274320">
              <a:spcAft>
                <a:spcPts val="1100"/>
              </a:spcAft>
            </a:pPr>
            <a:r>
              <a:rPr sz="1900">
                <a:solidFill>
                  <a:srgbClr val="0B2E4F"/>
                </a:solidFill>
                <a:latin typeface="Calibri"/>
              </a:rPr>
              <a:t>•  Metro construction forces route diversions &amp; lane closures</a:t>
            </a:r>
          </a:p>
          <a:p>
            <a:pPr marL="274320" indent="-274320">
              <a:spcAft>
                <a:spcPts val="1100"/>
              </a:spcAft>
            </a:pPr>
            <a:r>
              <a:rPr sz="1900">
                <a:solidFill>
                  <a:srgbClr val="0B2E4F"/>
                </a:solidFill>
                <a:latin typeface="Calibri"/>
              </a:rPr>
              <a:t>•  Encroachment &amp; construction shrink usable road width</a:t>
            </a:r>
          </a:p>
        </p:txBody>
      </p:sp>
      <p:sp>
        <p:nvSpPr>
          <p:cNvPr id="7" name="Rectangle 6"/>
          <p:cNvSpPr/>
          <p:nvPr/>
        </p:nvSpPr>
        <p:spPr>
          <a:xfrm>
            <a:off x="6995160" y="1371600"/>
            <a:ext cx="4709160" cy="4764024"/>
          </a:xfrm>
          <a:prstGeom prst="rect">
            <a:avLst/>
          </a:prstGeom>
          <a:solidFill>
            <a:srgbClr val="FFFFFF"/>
          </a:solidFill>
          <a:ln w="19050">
            <a:solidFill>
              <a:srgbClr val="1B6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tna_regulation.jpg"/>
          <p:cNvPicPr>
            <a:picLocks noChangeAspect="1"/>
          </p:cNvPicPr>
          <p:nvPr/>
        </p:nvPicPr>
        <p:blipFill>
          <a:blip r:embed="rId2"/>
          <a:srcRect l="13466" r="13466"/>
          <a:stretch>
            <a:fillRect/>
          </a:stretch>
        </p:blipFill>
        <p:spPr>
          <a:xfrm>
            <a:off x="7068312" y="1444752"/>
            <a:ext cx="4562856" cy="4160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068312" y="5623560"/>
            <a:ext cx="4562856" cy="4572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68312" y="5623560"/>
            <a:ext cx="456285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Patna Traffic Police regulating a busy junction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424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Special Traffic Situations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82880"/>
            <a:ext cx="6400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28C28"/>
                </a:solidFill>
                <a:latin typeface="Calibri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280160"/>
            <a:ext cx="507492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6C3A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371600"/>
            <a:ext cx="4709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6C3A8E"/>
                </a:solidFill>
                <a:latin typeface="Calibri"/>
              </a:rPr>
              <a:t>VIP Movement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28800"/>
            <a:ext cx="4709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500">
                <a:solidFill>
                  <a:srgbClr val="0B2E4F"/>
                </a:solidFill>
                <a:latin typeface="Calibri"/>
              </a:rPr>
              <a:t>•  Route clearance &amp; holding of traffic during transit</a:t>
            </a:r>
          </a:p>
          <a:p>
            <a:pPr marL="274320" indent="-274320">
              <a:spcAft>
                <a:spcPts val="500"/>
              </a:spcAft>
            </a:pPr>
            <a:r>
              <a:rPr sz="1500">
                <a:solidFill>
                  <a:srgbClr val="0B2E4F"/>
                </a:solidFill>
                <a:latin typeface="Calibri"/>
              </a:rPr>
              <a:t>•  Advance planning with escort &amp; pilot coordination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46520" y="1280160"/>
            <a:ext cx="507492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1B6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47688" y="1371600"/>
            <a:ext cx="4709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B6CA8"/>
                </a:solidFill>
                <a:latin typeface="Calibri"/>
              </a:rPr>
              <a:t>Metro Diversion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47688" y="1828800"/>
            <a:ext cx="4709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500">
                <a:solidFill>
                  <a:srgbClr val="0B2E4F"/>
                </a:solidFill>
                <a:latin typeface="Calibri"/>
              </a:rPr>
              <a:t>•  Lane closures around metro construction sites</a:t>
            </a:r>
          </a:p>
          <a:p>
            <a:pPr marL="274320" indent="-274320">
              <a:spcAft>
                <a:spcPts val="500"/>
              </a:spcAft>
            </a:pPr>
            <a:r>
              <a:rPr sz="1500">
                <a:solidFill>
                  <a:srgbClr val="0B2E4F"/>
                </a:solidFill>
                <a:latin typeface="Calibri"/>
              </a:rPr>
              <a:t>•  Clear signage + advance public communication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63927" y="3200400"/>
            <a:ext cx="7863840" cy="3255264"/>
          </a:xfrm>
          <a:prstGeom prst="rect">
            <a:avLst/>
          </a:prstGeom>
          <a:solidFill>
            <a:srgbClr val="FFFFFF"/>
          </a:solidFill>
          <a:ln w="19050">
            <a:solidFill>
              <a:srgbClr val="1B6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atna_boringroad.jpg"/>
          <p:cNvPicPr>
            <a:picLocks noChangeAspect="1"/>
          </p:cNvPicPr>
          <p:nvPr/>
        </p:nvPicPr>
        <p:blipFill>
          <a:blip r:embed="rId2"/>
          <a:srcRect t="19443" b="19443"/>
          <a:stretch>
            <a:fillRect/>
          </a:stretch>
        </p:blipFill>
        <p:spPr>
          <a:xfrm>
            <a:off x="2237079" y="3273552"/>
            <a:ext cx="7717536" cy="26517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237079" y="5943600"/>
            <a:ext cx="7717536" cy="4572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37079" y="5943600"/>
            <a:ext cx="771753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On-ground regulation at Boring Road crossing, Patna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424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Root Causes Behind the Chaos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82880"/>
            <a:ext cx="6400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28C28"/>
                </a:solidFill>
                <a:latin typeface="Calibri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3474720" cy="2057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6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60020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B6CA8"/>
                </a:solidFill>
                <a:latin typeface="Calibri"/>
              </a:rPr>
              <a:t>Rapid Motorisation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194560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55F6B"/>
                </a:solidFill>
                <a:latin typeface="Calibri"/>
              </a:rPr>
              <a:t>Vehicle ownership rising faster than infrastructure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417320"/>
            <a:ext cx="3474720" cy="2057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6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60020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B6CA8"/>
                </a:solidFill>
                <a:latin typeface="Calibri"/>
              </a:rPr>
              <a:t>Weak Enforcement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194560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55F6B"/>
                </a:solidFill>
                <a:latin typeface="Calibri"/>
              </a:rPr>
              <a:t>Low penalties and poor signage compliance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417320"/>
            <a:ext cx="3474720" cy="2057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6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160020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B6CA8"/>
                </a:solidFill>
                <a:latin typeface="Calibri"/>
              </a:rPr>
              <a:t>No Parking Policy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194560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55F6B"/>
                </a:solidFill>
                <a:latin typeface="Calibri"/>
              </a:rPr>
              <a:t>Parking treated as free &amp; unlimited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703320"/>
            <a:ext cx="3474720" cy="2057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6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388620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B6CA8"/>
                </a:solidFill>
                <a:latin typeface="Calibri"/>
              </a:rPr>
              <a:t>Land-use Mismatch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4480560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55F6B"/>
                </a:solidFill>
                <a:latin typeface="Calibri"/>
              </a:rPr>
              <a:t>Dense commercial zones with no parking norms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3703320"/>
            <a:ext cx="3474720" cy="2057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6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4568" y="388620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B6CA8"/>
                </a:solidFill>
                <a:latin typeface="Calibri"/>
              </a:rPr>
              <a:t>Weak Public Transport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4480560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55F6B"/>
                </a:solidFill>
                <a:latin typeface="Calibri"/>
              </a:rPr>
              <a:t>Few reliable last-mile options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3703320"/>
            <a:ext cx="3474720" cy="2057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6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47888" y="388620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B6CA8"/>
                </a:solidFill>
                <a:latin typeface="Calibri"/>
              </a:rPr>
              <a:t>Fragmented Governance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4480560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55F6B"/>
                </a:solidFill>
                <a:latin typeface="Calibri"/>
              </a:rPr>
              <a:t>Multiple agencies, unclear ownership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424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Impact of Poor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82880"/>
            <a:ext cx="6400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28C28"/>
                </a:solidFill>
                <a:latin typeface="Calibri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2240280" cy="54864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2240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Economic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2240280" cy="2834640"/>
          </a:xfrm>
          <a:prstGeom prst="rect">
            <a:avLst/>
          </a:prstGeom>
          <a:solidFill>
            <a:srgbClr val="FFFFFF"/>
          </a:solidFill>
          <a:ln w="19050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84831"/>
            <a:ext cx="1965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000"/>
              </a:spcAft>
            </a:pPr>
            <a:r>
              <a:rPr sz="1500">
                <a:solidFill>
                  <a:srgbClr val="0B2E4F"/>
                </a:solidFill>
                <a:latin typeface="Calibri"/>
              </a:rPr>
              <a:t>•  Lost man-hours in jams</a:t>
            </a:r>
          </a:p>
          <a:p>
            <a:pPr marL="274320" indent="-274320">
              <a:spcAft>
                <a:spcPts val="1000"/>
              </a:spcAft>
            </a:pPr>
            <a:r>
              <a:rPr sz="1500">
                <a:solidFill>
                  <a:srgbClr val="0B2E4F"/>
                </a:solidFill>
                <a:latin typeface="Calibri"/>
              </a:rPr>
              <a:t>•  Higher fuel &amp; logistics cost</a:t>
            </a:r>
          </a:p>
          <a:p>
            <a:pPr marL="274320" indent="-274320">
              <a:spcAft>
                <a:spcPts val="1000"/>
              </a:spcAft>
            </a:pPr>
            <a:r>
              <a:rPr sz="1500">
                <a:solidFill>
                  <a:srgbClr val="0B2E4F"/>
                </a:solidFill>
                <a:latin typeface="Calibri"/>
              </a:rPr>
              <a:t>•  Reduced business footfall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98648" y="1371600"/>
            <a:ext cx="2240280" cy="54864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98648" y="1371600"/>
            <a:ext cx="2240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Environmental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98648" y="1920240"/>
            <a:ext cx="2240280" cy="28346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35808" y="2084831"/>
            <a:ext cx="1965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000"/>
              </a:spcAft>
            </a:pPr>
            <a:r>
              <a:rPr sz="1500">
                <a:solidFill>
                  <a:srgbClr val="0B2E4F"/>
                </a:solidFill>
                <a:latin typeface="Calibri"/>
              </a:rPr>
              <a:t>•  Higher vehicular emissions</a:t>
            </a:r>
          </a:p>
          <a:p>
            <a:pPr marL="274320" indent="-274320">
              <a:spcAft>
                <a:spcPts val="1000"/>
              </a:spcAft>
            </a:pPr>
            <a:r>
              <a:rPr sz="1500">
                <a:solidFill>
                  <a:srgbClr val="0B2E4F"/>
                </a:solidFill>
                <a:latin typeface="Calibri"/>
              </a:rPr>
              <a:t>•  Idling pollution &amp; noise</a:t>
            </a:r>
          </a:p>
          <a:p>
            <a:pPr marL="274320" indent="-274320">
              <a:spcAft>
                <a:spcPts val="1000"/>
              </a:spcAft>
            </a:pPr>
            <a:r>
              <a:rPr sz="1500">
                <a:solidFill>
                  <a:srgbClr val="0B2E4F"/>
                </a:solidFill>
                <a:latin typeface="Calibri"/>
              </a:rPr>
              <a:t>•  Poor air quality (AQI)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48656" y="1371600"/>
            <a:ext cx="2240280" cy="548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48656" y="1371600"/>
            <a:ext cx="2240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Social &amp; Safety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48656" y="1920240"/>
            <a:ext cx="2240280" cy="283464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85816" y="2084831"/>
            <a:ext cx="1965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000"/>
              </a:spcAft>
            </a:pPr>
            <a:r>
              <a:rPr sz="1500">
                <a:solidFill>
                  <a:srgbClr val="0B2E4F"/>
                </a:solidFill>
                <a:latin typeface="Calibri"/>
              </a:rPr>
              <a:t>•  More accidents &amp; fatalities</a:t>
            </a:r>
          </a:p>
          <a:p>
            <a:pPr marL="274320" indent="-274320">
              <a:spcAft>
                <a:spcPts val="1000"/>
              </a:spcAft>
            </a:pPr>
            <a:r>
              <a:rPr sz="1500">
                <a:solidFill>
                  <a:srgbClr val="0B2E4F"/>
                </a:solidFill>
                <a:latin typeface="Calibri"/>
              </a:rPr>
              <a:t>•  Blocked emergency vehicles</a:t>
            </a:r>
          </a:p>
          <a:p>
            <a:pPr marL="274320" indent="-274320">
              <a:spcAft>
                <a:spcPts val="1000"/>
              </a:spcAft>
            </a:pPr>
            <a:r>
              <a:rPr sz="1500">
                <a:solidFill>
                  <a:srgbClr val="0B2E4F"/>
                </a:solidFill>
                <a:latin typeface="Calibri"/>
              </a:rPr>
              <a:t>•  Stress &amp; road rage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18120" y="1371600"/>
            <a:ext cx="3886200" cy="3483864"/>
          </a:xfrm>
          <a:prstGeom prst="rect">
            <a:avLst/>
          </a:prstGeom>
          <a:solidFill>
            <a:srgbClr val="FFFFFF"/>
          </a:solidFill>
          <a:ln w="19050">
            <a:solidFill>
              <a:srgbClr val="1B6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patna_impact.jpg"/>
          <p:cNvPicPr>
            <a:picLocks noChangeAspect="1"/>
          </p:cNvPicPr>
          <p:nvPr/>
        </p:nvPicPr>
        <p:blipFill>
          <a:blip r:embed="rId2"/>
          <a:srcRect l="13482" r="13482"/>
          <a:stretch>
            <a:fillRect/>
          </a:stretch>
        </p:blipFill>
        <p:spPr>
          <a:xfrm>
            <a:off x="7891272" y="1444752"/>
            <a:ext cx="3739896" cy="288036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7891272" y="4343400"/>
            <a:ext cx="3739896" cy="4572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91272" y="4343400"/>
            <a:ext cx="37398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Congestion on a Patna arterial road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424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Solutions: Smarter Parking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82880"/>
            <a:ext cx="6400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28C28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6035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500"/>
              </a:spcAft>
            </a:pPr>
            <a:r>
              <a:rPr sz="1900">
                <a:solidFill>
                  <a:srgbClr val="0B2E4F"/>
                </a:solidFill>
                <a:latin typeface="Calibri"/>
              </a:rPr>
              <a:t>•  Priced, demand-based on-street parking (pay-and-park)</a:t>
            </a:r>
          </a:p>
          <a:p>
            <a:pPr marL="274320" indent="-274320">
              <a:spcAft>
                <a:spcPts val="1500"/>
              </a:spcAft>
            </a:pPr>
            <a:r>
              <a:rPr sz="1900">
                <a:solidFill>
                  <a:srgbClr val="0B2E4F"/>
                </a:solidFill>
                <a:latin typeface="Calibri"/>
              </a:rPr>
              <a:t>•  Clearly marked bays with barricades &amp; discipline</a:t>
            </a:r>
          </a:p>
          <a:p>
            <a:pPr marL="274320" indent="-274320">
              <a:spcAft>
                <a:spcPts val="1500"/>
              </a:spcAft>
            </a:pPr>
            <a:r>
              <a:rPr sz="1900">
                <a:solidFill>
                  <a:srgbClr val="0B2E4F"/>
                </a:solidFill>
                <a:latin typeface="Calibri"/>
              </a:rPr>
              <a:t>•  Multi-level &amp; organised off-street parking</a:t>
            </a:r>
          </a:p>
          <a:p>
            <a:pPr marL="274320" indent="-274320">
              <a:spcAft>
                <a:spcPts val="1500"/>
              </a:spcAft>
            </a:pPr>
            <a:r>
              <a:rPr sz="1900">
                <a:solidFill>
                  <a:srgbClr val="0B2E4F"/>
                </a:solidFill>
                <a:latin typeface="Calibri"/>
              </a:rPr>
              <a:t>•  Designated auto and e-rickshaw stands near hubs</a:t>
            </a:r>
          </a:p>
          <a:p>
            <a:pPr marL="274320" indent="-274320">
              <a:spcAft>
                <a:spcPts val="1500"/>
              </a:spcAft>
            </a:pPr>
            <a:r>
              <a:rPr sz="1900">
                <a:solidFill>
                  <a:srgbClr val="0B2E4F"/>
                </a:solidFill>
                <a:latin typeface="Calibri"/>
              </a:rPr>
              <a:t>•  Strict enforcement: towing, fines and CCTV</a:t>
            </a:r>
          </a:p>
          <a:p>
            <a:pPr marL="274320" indent="-274320">
              <a:spcAft>
                <a:spcPts val="1500"/>
              </a:spcAft>
            </a:pPr>
            <a:r>
              <a:rPr sz="1900">
                <a:solidFill>
                  <a:srgbClr val="0B2E4F"/>
                </a:solidFill>
                <a:latin typeface="Calibri"/>
              </a:rPr>
              <a:t>•  Parking norms in building bye-laws for new projects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903720" y="1371600"/>
            <a:ext cx="4800600" cy="4764024"/>
          </a:xfrm>
          <a:prstGeom prst="rect">
            <a:avLst/>
          </a:prstGeom>
          <a:solidFill>
            <a:srgbClr val="FFFFFF"/>
          </a:solidFill>
          <a:ln w="19050">
            <a:solidFill>
              <a:srgbClr val="1B6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76872" y="5623560"/>
            <a:ext cx="4654296" cy="4572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76872" y="5623560"/>
            <a:ext cx="46542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Organised auto stand with barricades — Patna</a:t>
            </a:r>
          </a:p>
        </p:txBody>
      </p:sp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2"/>
          <a:srcRect l="18537" r="18537"/>
          <a:stretch>
            <a:fillRect/>
          </a:stretch>
        </p:blipFill>
        <p:spPr>
          <a:xfrm>
            <a:off x="6976872" y="1444752"/>
            <a:ext cx="4654296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424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Solutions: Traffic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82880"/>
            <a:ext cx="6400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28C28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5669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2600"/>
              </a:spcAft>
            </a:pPr>
            <a:r>
              <a:rPr sz="1900">
                <a:solidFill>
                  <a:srgbClr val="0B2E4F"/>
                </a:solidFill>
                <a:latin typeface="Calibri"/>
              </a:rPr>
              <a:t>•  Clear, well-placed sign boards with strict enforcement</a:t>
            </a:r>
          </a:p>
          <a:p>
            <a:pPr marL="274320" indent="-274320">
              <a:spcAft>
                <a:spcPts val="2600"/>
              </a:spcAft>
            </a:pPr>
            <a:r>
              <a:rPr sz="1900">
                <a:solidFill>
                  <a:srgbClr val="0B2E4F"/>
                </a:solidFill>
                <a:latin typeface="Calibri"/>
              </a:rPr>
              <a:t>•  Real-time updates to public — social media, apps &amp; alerts</a:t>
            </a:r>
          </a:p>
          <a:p>
            <a:pPr marL="274320" indent="-274320">
              <a:spcAft>
                <a:spcPts val="2600"/>
              </a:spcAft>
            </a:pPr>
            <a:r>
              <a:rPr sz="1900">
                <a:solidFill>
                  <a:srgbClr val="0B2E4F"/>
                </a:solidFill>
                <a:latin typeface="Calibri"/>
              </a:rPr>
              <a:t>•  Advance communication for VIP movement &amp; metro diversions</a:t>
            </a:r>
          </a:p>
          <a:p>
            <a:pPr marL="274320" indent="-274320">
              <a:spcAft>
                <a:spcPts val="2600"/>
              </a:spcAft>
            </a:pPr>
            <a:r>
              <a:rPr sz="1900">
                <a:solidFill>
                  <a:srgbClr val="0B2E4F"/>
                </a:solidFill>
                <a:latin typeface="Calibri"/>
              </a:rPr>
              <a:t>•  Adaptive / synchronised signals on key corridors (ITS)</a:t>
            </a:r>
          </a:p>
          <a:p>
            <a:pPr marL="274320" indent="-274320">
              <a:spcAft>
                <a:spcPts val="2600"/>
              </a:spcAft>
            </a:pPr>
            <a:r>
              <a:rPr sz="1900">
                <a:solidFill>
                  <a:srgbClr val="0B2E4F"/>
                </a:solidFill>
                <a:latin typeface="Calibri"/>
              </a:rPr>
              <a:t>•  Dedicated lanes for buses &amp; non-motorised transport</a:t>
            </a:r>
          </a:p>
          <a:p>
            <a:pPr marL="274320" indent="-274320">
              <a:spcAft>
                <a:spcPts val="2600"/>
              </a:spcAft>
            </a:pPr>
            <a:r>
              <a:rPr sz="1900">
                <a:solidFill>
                  <a:srgbClr val="0B2E4F"/>
                </a:solidFill>
                <a:latin typeface="Calibri"/>
              </a:rPr>
              <a:t>•  Community awareness by NCC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508760"/>
            <a:ext cx="5394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2200"/>
              </a:spcAft>
            </a:pPr>
            <a:r>
              <a:rPr sz="1900">
                <a:solidFill>
                  <a:srgbClr val="0B2E4F"/>
                </a:solidFill>
                <a:latin typeface="Calibri"/>
              </a:rPr>
              <a:t>•  Joint and coordinated anti-encroachment drives</a:t>
            </a:r>
          </a:p>
          <a:p>
            <a:pPr marL="274320" indent="-274320">
              <a:spcAft>
                <a:spcPts val="2200"/>
              </a:spcAft>
            </a:pPr>
            <a:r>
              <a:rPr sz="1900">
                <a:solidFill>
                  <a:srgbClr val="0B2E4F"/>
                </a:solidFill>
                <a:latin typeface="Calibri"/>
              </a:rPr>
              <a:t>•  Elevated corridors and flyovers</a:t>
            </a:r>
          </a:p>
          <a:p>
            <a:pPr marL="566928" indent="-292608">
              <a:spcAft>
                <a:spcPts val="2200"/>
              </a:spcAft>
            </a:pPr>
            <a:r>
              <a:rPr sz="1600">
                <a:solidFill>
                  <a:srgbClr val="555F6B"/>
                </a:solidFill>
                <a:latin typeface="Calibri"/>
              </a:rPr>
              <a:t>     – Karbigahiya–Mithapur Flyover</a:t>
            </a:r>
          </a:p>
          <a:p>
            <a:pPr marL="566928" indent="-292608">
              <a:spcAft>
                <a:spcPts val="2200"/>
              </a:spcAft>
            </a:pPr>
            <a:r>
              <a:rPr sz="1600">
                <a:solidFill>
                  <a:srgbClr val="555F6B"/>
                </a:solidFill>
                <a:latin typeface="Calibri"/>
              </a:rPr>
              <a:t>     – Mithapur–Sipara Elevated Road</a:t>
            </a:r>
          </a:p>
          <a:p>
            <a:pPr marL="274320" indent="-274320">
              <a:spcAft>
                <a:spcPts val="2200"/>
              </a:spcAft>
            </a:pPr>
            <a:r>
              <a:rPr sz="1900">
                <a:solidFill>
                  <a:srgbClr val="0B2E4F"/>
                </a:solidFill>
                <a:latin typeface="Calibri"/>
              </a:rPr>
              <a:t>•  Ring road development</a:t>
            </a:r>
          </a:p>
          <a:p>
            <a:pPr marL="274320" indent="-274320">
              <a:spcAft>
                <a:spcPts val="2200"/>
              </a:spcAft>
            </a:pPr>
            <a:r>
              <a:rPr sz="1900">
                <a:solidFill>
                  <a:srgbClr val="0B2E4F"/>
                </a:solidFill>
                <a:latin typeface="Calibri"/>
              </a:rPr>
              <a:t>•  Smart management : ICCC</a:t>
            </a:r>
          </a:p>
          <a:p>
            <a:pPr marL="274320" indent="-274320">
              <a:spcAft>
                <a:spcPts val="2200"/>
              </a:spcAft>
            </a:pPr>
            <a:r>
              <a:rPr sz="1900">
                <a:solidFill>
                  <a:srgbClr val="0B2E4F"/>
                </a:solidFill>
                <a:latin typeface="Calibri"/>
              </a:rPr>
              <a:t>•  Strengthen public transport &amp; last-mile connectivity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424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The Role of Smart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82880"/>
            <a:ext cx="6400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28C28"/>
                </a:solidFill>
                <a:latin typeface="Calibri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3474720" cy="20574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60020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28C28"/>
                </a:solidFill>
                <a:latin typeface="Calibri"/>
              </a:rPr>
              <a:t>Smart Sensors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194560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Detect free and occupied parking bays in real time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417320"/>
            <a:ext cx="3474720" cy="20574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60020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28C28"/>
                </a:solidFill>
                <a:latin typeface="Calibri"/>
              </a:rPr>
              <a:t>Digital Sign Boards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194560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Dynamic messages for diversions &amp; warnings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417320"/>
            <a:ext cx="3474720" cy="20574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160020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28C28"/>
                </a:solidFill>
                <a:latin typeface="Calibri"/>
              </a:rPr>
              <a:t>ANPR Cameras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194560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Automatic number-plate based enforcement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703320"/>
            <a:ext cx="3474720" cy="20574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388620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28C28"/>
                </a:solidFill>
                <a:latin typeface="Calibri"/>
              </a:rPr>
              <a:t>Adaptive Signals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4480560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Signal timing based on live traffic flow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3703320"/>
            <a:ext cx="3474720" cy="20574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4568" y="388620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28C28"/>
                </a:solidFill>
                <a:latin typeface="Calibri"/>
              </a:rPr>
              <a:t>Real-time Updates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4480560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Live traffic &amp; diversion information to citizens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3703320"/>
            <a:ext cx="3474720" cy="20574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47888" y="388620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28C28"/>
                </a:solidFill>
                <a:latin typeface="Calibri"/>
              </a:rPr>
              <a:t>Cashless Payment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4480560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Transparent, leak-proof parking revenue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424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Case Study: Pune Parking Reform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82880"/>
            <a:ext cx="6400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28C28"/>
                </a:solidFill>
                <a:latin typeface="Calibri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28016" cy="457200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6035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B6CA8"/>
                </a:solidFill>
                <a:latin typeface="Calibri"/>
              </a:rPr>
              <a:t>Pune's on-street parking management (with ITDP India)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6035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200"/>
              </a:spcAft>
            </a:pPr>
            <a:r>
              <a:rPr sz="1900">
                <a:solidFill>
                  <a:srgbClr val="0B2E4F"/>
                </a:solidFill>
                <a:latin typeface="Calibri"/>
              </a:rPr>
              <a:t>•  City parking policy adopted — parking priced, not free</a:t>
            </a:r>
          </a:p>
          <a:p>
            <a:pPr marL="274320" indent="-274320">
              <a:spcAft>
                <a:spcPts val="1200"/>
              </a:spcAft>
            </a:pPr>
            <a:r>
              <a:rPr sz="1900">
                <a:solidFill>
                  <a:srgbClr val="0B2E4F"/>
                </a:solidFill>
                <a:latin typeface="Calibri"/>
              </a:rPr>
              <a:t>•  Demand-based pricing in busy zones &amp; peak hours</a:t>
            </a:r>
          </a:p>
          <a:p>
            <a:pPr marL="274320" indent="-274320">
              <a:spcAft>
                <a:spcPts val="1200"/>
              </a:spcAft>
            </a:pPr>
            <a:r>
              <a:rPr sz="1900">
                <a:solidFill>
                  <a:srgbClr val="0B2E4F"/>
                </a:solidFill>
                <a:latin typeface="Calibri"/>
              </a:rPr>
              <a:t>•  New no-parking zones</a:t>
            </a:r>
          </a:p>
          <a:p>
            <a:pPr marL="274320" indent="-274320">
              <a:spcAft>
                <a:spcPts val="1200"/>
              </a:spcAft>
            </a:pPr>
            <a:r>
              <a:rPr sz="1900">
                <a:solidFill>
                  <a:srgbClr val="0B2E4F"/>
                </a:solidFill>
                <a:latin typeface="Calibri"/>
              </a:rPr>
              <a:t>•  Metro–parking integration — app-based booking and discount for ticket holders</a:t>
            </a:r>
          </a:p>
          <a:p>
            <a:pPr marL="274320" indent="-274320">
              <a:spcAft>
                <a:spcPts val="1200"/>
              </a:spcAft>
            </a:pPr>
            <a:r>
              <a:rPr sz="1900">
                <a:solidFill>
                  <a:srgbClr val="0B2E4F"/>
                </a:solidFill>
                <a:latin typeface="Calibri"/>
              </a:rPr>
              <a:t>•  Cashless, self-paying system for transparent revenue</a:t>
            </a:r>
          </a:p>
          <a:p>
            <a:pPr marL="274320" indent="-274320">
              <a:spcAft>
                <a:spcPts val="1200"/>
              </a:spcAft>
            </a:pPr>
            <a:r>
              <a:rPr sz="1900">
                <a:solidFill>
                  <a:srgbClr val="0B2E4F"/>
                </a:solidFill>
                <a:latin typeface="Calibri"/>
              </a:rPr>
              <a:t>•  Result: less haphazard parking &amp; smoother 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1371600"/>
            <a:ext cx="4480560" cy="3529584"/>
          </a:xfrm>
          <a:prstGeom prst="rect">
            <a:avLst/>
          </a:prstGeom>
          <a:solidFill>
            <a:srgbClr val="FFFFFF"/>
          </a:solidFill>
          <a:ln w="19050">
            <a:solidFill>
              <a:srgbClr val="1B6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96912" y="4389120"/>
            <a:ext cx="4334256" cy="4572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96912" y="4389120"/>
            <a:ext cx="433425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Integrated parking &amp; transit facility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rcRect l="15147" r="15147"/>
          <a:stretch>
            <a:fillRect/>
          </a:stretch>
        </p:blipFill>
        <p:spPr>
          <a:xfrm>
            <a:off x="7296912" y="1444752"/>
            <a:ext cx="4334256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424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Action Roadmap for Patna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82880"/>
            <a:ext cx="6400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28C28"/>
                </a:solidFill>
                <a:latin typeface="Calibri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3611880" cy="64008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3611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Short Term (0-6 months)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361188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300"/>
              </a:spcAft>
            </a:pPr>
            <a:r>
              <a:rPr sz="1500">
                <a:solidFill>
                  <a:srgbClr val="0B2E4F"/>
                </a:solidFill>
                <a:latin typeface="Calibri"/>
              </a:rPr>
              <a:t>•  Fix hotspots — Boring Road, Station Road</a:t>
            </a:r>
          </a:p>
          <a:p>
            <a:pPr marL="274320" indent="-274320">
              <a:spcAft>
                <a:spcPts val="1300"/>
              </a:spcAft>
            </a:pPr>
            <a:r>
              <a:rPr sz="1500">
                <a:solidFill>
                  <a:srgbClr val="0B2E4F"/>
                </a:solidFill>
                <a:latin typeface="Calibri"/>
              </a:rPr>
              <a:t>•  Demarcate bays with clear signage</a:t>
            </a:r>
          </a:p>
          <a:p>
            <a:pPr marL="274320" indent="-274320">
              <a:spcAft>
                <a:spcPts val="1300"/>
              </a:spcAft>
            </a:pPr>
            <a:r>
              <a:rPr sz="1500">
                <a:solidFill>
                  <a:srgbClr val="0B2E4F"/>
                </a:solidFill>
                <a:latin typeface="Calibri"/>
              </a:rPr>
              <a:t>•  Clear encroachments</a:t>
            </a:r>
          </a:p>
          <a:p>
            <a:pPr marL="274320" indent="-274320">
              <a:spcAft>
                <a:spcPts val="1300"/>
              </a:spcAft>
            </a:pPr>
            <a:r>
              <a:rPr sz="1500">
                <a:solidFill>
                  <a:srgbClr val="0B2E4F"/>
                </a:solidFill>
                <a:latin typeface="Calibri"/>
              </a:rPr>
              <a:t>•  Enforcement drive and towing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371600"/>
            <a:ext cx="3611880" cy="640080"/>
          </a:xfrm>
          <a:prstGeom prst="rect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371600"/>
            <a:ext cx="3611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Medium Term (6-18 months)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2011680"/>
            <a:ext cx="361188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B6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19456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300"/>
              </a:spcAft>
            </a:pPr>
            <a:r>
              <a:rPr sz="1500">
                <a:solidFill>
                  <a:srgbClr val="0B2E4F"/>
                </a:solidFill>
                <a:latin typeface="Calibri"/>
              </a:rPr>
              <a:t>•  Adopt a city parking policy</a:t>
            </a:r>
          </a:p>
          <a:p>
            <a:pPr marL="274320" indent="-274320">
              <a:spcAft>
                <a:spcPts val="1300"/>
              </a:spcAft>
            </a:pPr>
            <a:r>
              <a:rPr sz="1500">
                <a:solidFill>
                  <a:srgbClr val="0B2E4F"/>
                </a:solidFill>
                <a:latin typeface="Calibri"/>
              </a:rPr>
              <a:t>•  Pay-and-park with mobile app</a:t>
            </a:r>
          </a:p>
          <a:p>
            <a:pPr marL="274320" indent="-274320">
              <a:spcAft>
                <a:spcPts val="1300"/>
              </a:spcAft>
            </a:pPr>
            <a:r>
              <a:rPr sz="1500">
                <a:solidFill>
                  <a:srgbClr val="0B2E4F"/>
                </a:solidFill>
                <a:latin typeface="Calibri"/>
              </a:rPr>
              <a:t>•  Real-time updates channel</a:t>
            </a:r>
          </a:p>
          <a:p>
            <a:pPr marL="274320" indent="-274320">
              <a:spcAft>
                <a:spcPts val="1300"/>
              </a:spcAft>
            </a:pPr>
            <a:r>
              <a:rPr sz="1500">
                <a:solidFill>
                  <a:srgbClr val="0B2E4F"/>
                </a:solidFill>
                <a:latin typeface="Calibri"/>
              </a:rPr>
              <a:t>•  Metro diversion planning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371600"/>
            <a:ext cx="3611880" cy="64008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371600"/>
            <a:ext cx="3611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Long Term (18 months +)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011680"/>
            <a:ext cx="361188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19456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300"/>
              </a:spcAft>
            </a:pPr>
            <a:r>
              <a:rPr sz="1500">
                <a:solidFill>
                  <a:srgbClr val="0B2E4F"/>
                </a:solidFill>
                <a:latin typeface="Calibri"/>
              </a:rPr>
              <a:t>•  Multi-level parking</a:t>
            </a:r>
          </a:p>
          <a:p>
            <a:pPr marL="274320" indent="-274320">
              <a:spcAft>
                <a:spcPts val="1300"/>
              </a:spcAft>
            </a:pPr>
            <a:r>
              <a:rPr sz="1500">
                <a:solidFill>
                  <a:srgbClr val="0B2E4F"/>
                </a:solidFill>
                <a:latin typeface="Calibri"/>
              </a:rPr>
              <a:t>•  City-wide ITS and CCTV</a:t>
            </a:r>
          </a:p>
          <a:p>
            <a:pPr marL="274320" indent="-274320">
              <a:spcAft>
                <a:spcPts val="1300"/>
              </a:spcAft>
            </a:pPr>
            <a:r>
              <a:rPr sz="1500">
                <a:solidFill>
                  <a:srgbClr val="0B2E4F"/>
                </a:solidFill>
                <a:latin typeface="Calibri"/>
              </a:rPr>
              <a:t>•  Integrated mobility plan</a:t>
            </a:r>
          </a:p>
          <a:p>
            <a:pPr marL="274320" indent="-274320">
              <a:spcAft>
                <a:spcPts val="1300"/>
              </a:spcAft>
            </a:pPr>
            <a:r>
              <a:rPr sz="1500">
                <a:solidFill>
                  <a:srgbClr val="0B2E4F"/>
                </a:solidFill>
                <a:latin typeface="Calibri"/>
              </a:rPr>
              <a:t>•  Data-driven governance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349240"/>
            <a:ext cx="10881360" cy="77724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34924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Already begun: In late 2025 Patna traffic police banned car and auto parking on Income Tax Golambar–Dak Bungalow and Budh Marg–GPO Golambar.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E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424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3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•  Parking is a policy problem, not just an infrastructure one</a:t>
            </a:r>
          </a:p>
          <a:p>
            <a:pPr marL="274320" indent="-274320">
              <a:spcAft>
                <a:spcPts val="13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•  Sign boards must be backed by real enforcement</a:t>
            </a:r>
          </a:p>
          <a:p>
            <a:pPr marL="274320" indent="-274320">
              <a:spcAft>
                <a:spcPts val="13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•  Plan ahead for VIP movement and metro diversions</a:t>
            </a:r>
          </a:p>
          <a:p>
            <a:pPr marL="274320" indent="-274320">
              <a:spcAft>
                <a:spcPts val="13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•  Real-time updates keep citizens informed and reduce chaos</a:t>
            </a:r>
          </a:p>
          <a:p>
            <a:pPr marL="274320" indent="-274320">
              <a:spcAft>
                <a:spcPts val="13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•  Joint and coordinated efforts by all stakeholders</a:t>
            </a:r>
          </a:p>
          <a:p>
            <a:pPr marL="274320" indent="-274320">
              <a:spcAft>
                <a:spcPts val="13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•  Holistic approach by city managers</a:t>
            </a:r>
          </a:p>
          <a:p>
            <a:pPr marL="274320" indent="-274320">
              <a:spcAft>
                <a:spcPts val="13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•  Patna can adapt proven models like Pune's reform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E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6613855" cy="68580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331720"/>
            <a:ext cx="146304" cy="173736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148840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15468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28C28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343400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FC3D6"/>
                </a:solidFill>
                <a:latin typeface="Calibri"/>
              </a:rPr>
              <a:t>Session by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66344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Pourush Agarwal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12064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28C28"/>
                </a:solidFill>
                <a:latin typeface="Calibri"/>
              </a:rPr>
              <a:t>DySP Traffic Patna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rcRect l="26762" r="26762"/>
          <a:stretch>
            <a:fillRect/>
          </a:stretch>
        </p:blipFill>
        <p:spPr>
          <a:xfrm>
            <a:off x="6613855" y="0"/>
            <a:ext cx="557784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