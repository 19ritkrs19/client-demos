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tna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245" y="0"/>
            <a:ext cx="457145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148840"/>
            <a:ext cx="164592" cy="219456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5669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Parking &amp; Traffic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8C28"/>
                </a:solidFill>
                <a:latin typeface="Calibri"/>
              </a:rPr>
              <a:t>Issues and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5669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 Session for City Managers  •  Patna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FC3D6"/>
                </a:solidFill>
                <a:latin typeface="Calibri"/>
              </a:rPr>
              <a:t>Session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Pourush Agarwal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8C28"/>
                </a:solidFill>
                <a:latin typeface="Calibri"/>
              </a:rPr>
              <a:t>DySP, Patna Traffic Police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Session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Why parking &amp; traffic matter for a city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The scale of the problem in Patna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Key parking issues &amp; the role of sign boards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Traffic management challenges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Special situations: VIP movement &amp; metro diversion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Root causes and their impact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Solutions — smarter parking, signage &amp; real-time updates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Smart technology in traffic management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Case study: Pune parking reform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Action roadmap for Patna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Why Parking &amp; Traffic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Traffic reflects a city's quality of life &amp; governance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Poor parking eats into scarce public road space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Congestion means lost productivity, fuel and time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It directly affects safety, emergency access &amp; emissions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Well-managed mobility builds public trust &amp; attracts investment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The Scale of the Problem in Patna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6060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1B6CA8"/>
                </a:solidFill>
                <a:latin typeface="Calibri"/>
              </a:rPr>
              <a:t>12.5 L+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F6B"/>
                </a:solidFill>
                <a:latin typeface="Calibri"/>
              </a:rPr>
              <a:t>vehicles on Patna roads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828800"/>
            <a:ext cx="26060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10312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28C28"/>
                </a:solidFill>
                <a:latin typeface="Calibri"/>
              </a:rPr>
              <a:t>62%+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15468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F6B"/>
                </a:solidFill>
                <a:latin typeface="Calibri"/>
              </a:rPr>
              <a:t>new vehicles are 2-wheelers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26060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10312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C0392B"/>
                </a:solidFill>
                <a:latin typeface="Calibri"/>
              </a:rPr>
              <a:t>~8%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15468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F6B"/>
                </a:solidFill>
                <a:latin typeface="Calibri"/>
              </a:rPr>
              <a:t>city area is road (vs 25% ideal)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828800"/>
            <a:ext cx="26060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210312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2E8B57"/>
                </a:solidFill>
                <a:latin typeface="Calibri"/>
              </a:rPr>
              <a:t>798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15468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F6B"/>
                </a:solidFill>
                <a:latin typeface="Calibri"/>
              </a:rPr>
              <a:t>traffic cops for the whole 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B2E4F"/>
                </a:solidFill>
                <a:latin typeface="Calibri"/>
              </a:rPr>
              <a:t>Vehicles have grown roughly threefold in a decade, while road space and enforcement staff have not kept pace — the core of Patna's congestion.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Calibri"/>
              </a:rPr>
              <a:t>Sources: Times of India (Patna) reports; NIUA public perception study.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Key Parking Issues in Patna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309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Illegal roadside parking on both sides of arterial roads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Vehicles ignore signage — parking right under 'No Parking' boards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Footpaths &amp; carriageways encroached by parked vehicles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Autos &amp; e-rickshaws halt anywhere near stations &amp; markets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Very little organised, paid off-street parking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Weak deterrence — sign boards alone don't ensure compliance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371600"/>
            <a:ext cx="4663440" cy="3190113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tna_nopark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1444752"/>
            <a:ext cx="4517136" cy="254088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132320" y="4022217"/>
            <a:ext cx="4663440" cy="50292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4022217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Autos parked right under a 'No Parking' board — Patna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Traffic Management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309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Mixed traffic — cars, 2-wheelers, autos, e-rickshaws, carts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Only ~8% of city area is road (well below the 25% norm)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Manual regulation at junctions with severe manpower shortage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Frequent VIP movement disrupts normal traffic flow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Metro construction forces route diversions &amp; lane closures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Encroachment &amp; construction shrink usable road width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371600"/>
            <a:ext cx="4663440" cy="3658765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tna_regul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1444752"/>
            <a:ext cx="4517136" cy="300954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132320" y="4490869"/>
            <a:ext cx="4663440" cy="50292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4490869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Patna Traffic Police regulating a busy junction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Special Traffic Situations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0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6C3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6C3A8E"/>
                </a:solidFill>
                <a:latin typeface="Calibri"/>
              </a:rPr>
              <a:t>VIP Movement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B2E4F"/>
                </a:solidFill>
                <a:latin typeface="Calibri"/>
              </a:rPr>
              <a:t>•  Route clearance &amp; holding of traffic during transit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2E4F"/>
                </a:solidFill>
                <a:latin typeface="Calibri"/>
              </a:rPr>
              <a:t>•  Advance planning with escort &amp; pilot coordination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2E4F"/>
                </a:solidFill>
                <a:latin typeface="Calibri"/>
              </a:rPr>
              <a:t>•  Minimise public inconvenience with timed, short holds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48640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087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B6CA8"/>
                </a:solidFill>
                <a:latin typeface="Calibri"/>
              </a:rPr>
              <a:t>Metro Diversion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5740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B2E4F"/>
                </a:solidFill>
                <a:latin typeface="Calibri"/>
              </a:rPr>
              <a:t>•  Lane closures around metro construction sites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2E4F"/>
                </a:solidFill>
                <a:latin typeface="Calibri"/>
              </a:rPr>
              <a:t>•  Planned diversions on key corridors &amp; junctions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2E4F"/>
                </a:solidFill>
                <a:latin typeface="Calibri"/>
              </a:rPr>
              <a:t>•  Clear signage + advance public communication needed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3749039"/>
            <a:ext cx="612648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atna_boringro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903" y="3822191"/>
            <a:ext cx="4049713" cy="227685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017520" y="6135623"/>
            <a:ext cx="6126480" cy="50292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6135623"/>
            <a:ext cx="5943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On-ground regulation at Boring Road crossing, Patna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Root Causes Behind the Chaos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347472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CA8"/>
                </a:solidFill>
                <a:latin typeface="Calibri"/>
              </a:rPr>
              <a:t>Rapid Motorisation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Calibri"/>
              </a:rPr>
              <a:t>Vehicle ownership rising faster than infra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47472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CA8"/>
                </a:solidFill>
                <a:latin typeface="Calibri"/>
              </a:rPr>
              <a:t>Weak Enforcement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28600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Calibri"/>
              </a:rPr>
              <a:t>Low penalties, poor signage compliance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47472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4592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CA8"/>
                </a:solidFill>
                <a:latin typeface="Calibri"/>
              </a:rPr>
              <a:t>No Parking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Calibri"/>
              </a:rPr>
              <a:t>Parking treated as free &amp; unlimited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57600"/>
            <a:ext cx="347472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4048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CA8"/>
                </a:solidFill>
                <a:latin typeface="Calibri"/>
              </a:rPr>
              <a:t>Land-use Mismatch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Calibri"/>
              </a:rPr>
              <a:t>Dense commercial zones, no parking norms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657600"/>
            <a:ext cx="347472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84048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CA8"/>
                </a:solidFill>
                <a:latin typeface="Calibri"/>
              </a:rPr>
              <a:t>Weak Public Transport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48056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Calibri"/>
              </a:rPr>
              <a:t>Few reliable last-mile options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657600"/>
            <a:ext cx="347472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84048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6CA8"/>
                </a:solidFill>
                <a:latin typeface="Calibri"/>
              </a:rPr>
              <a:t>Fragmented 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48056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Calibri"/>
              </a:rPr>
              <a:t>Multiple agencies, unclear ownership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Impact of Poor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611880" cy="64008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611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Economic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361188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0B2E4F"/>
                </a:solidFill>
                <a:latin typeface="Calibri"/>
              </a:rPr>
              <a:t>•  Lost man-hours in jams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0B2E4F"/>
                </a:solidFill>
                <a:latin typeface="Calibri"/>
              </a:rPr>
              <a:t>•  Higher fuel &amp; logistics cost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0B2E4F"/>
                </a:solidFill>
                <a:latin typeface="Calibri"/>
              </a:rPr>
              <a:t>•  Reduced business footfall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554480"/>
            <a:ext cx="3611880" cy="6400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54480"/>
            <a:ext cx="3611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Environmental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194560"/>
            <a:ext cx="361188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42316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0B2E4F"/>
                </a:solidFill>
                <a:latin typeface="Calibri"/>
              </a:rPr>
              <a:t>•  Higher vehicular emissions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0B2E4F"/>
                </a:solidFill>
                <a:latin typeface="Calibri"/>
              </a:rPr>
              <a:t>•  Idling pollution &amp; noise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0B2E4F"/>
                </a:solidFill>
                <a:latin typeface="Calibri"/>
              </a:rPr>
              <a:t>•  Poor air quality (AQI)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554480"/>
            <a:ext cx="361188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3611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Social &amp; Safety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194560"/>
            <a:ext cx="361188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42316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0B2E4F"/>
                </a:solidFill>
                <a:latin typeface="Calibri"/>
              </a:rPr>
              <a:t>•  More accidents &amp; fatalities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0B2E4F"/>
                </a:solidFill>
                <a:latin typeface="Calibri"/>
              </a:rPr>
              <a:t>•  Blocked emergency vehicles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0B2E4F"/>
                </a:solidFill>
                <a:latin typeface="Calibri"/>
              </a:rPr>
              <a:t>•  Stress &amp; road 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Solutions: Smarter Parking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309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Priced, demand-based on-street parking (pay-and-park)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Clearly marked bays with barricades &amp; discipline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Multi-level &amp; organised off-street parking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Designated auto/e-rickshaw stands near hubs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Strict enforcement: towing, fines, CCTV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Parking norms in building bye-laws for new projects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371600"/>
            <a:ext cx="4663440" cy="3190113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tna_properpark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1444752"/>
            <a:ext cx="4517136" cy="254088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132320" y="4022217"/>
            <a:ext cx="4663440" cy="50292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4022217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Organised auto stand with barricades — Patna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Solutions: Traffic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>
                <a:solidFill>
                  <a:srgbClr val="0B2E4F"/>
                </a:solidFill>
                <a:latin typeface="Calibri"/>
              </a:rPr>
              <a:t>•  Clear, well-placed sign boards + strict enforcement of signage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0B2E4F"/>
                </a:solidFill>
                <a:latin typeface="Calibri"/>
              </a:rPr>
              <a:t>•  Real-time updates to public — social media, apps, FM &amp; alerts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0B2E4F"/>
                </a:solidFill>
                <a:latin typeface="Calibri"/>
              </a:rPr>
              <a:t>•  Advance communication for VIP movement &amp; metro diversions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0B2E4F"/>
                </a:solidFill>
                <a:latin typeface="Calibri"/>
              </a:rPr>
              <a:t>•  Adaptive / synchronised signals on key corridors (ITS)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0B2E4F"/>
                </a:solidFill>
                <a:latin typeface="Calibri"/>
              </a:rPr>
              <a:t>•  Dedicated lanes for buses &amp; non-motorised transport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0B2E4F"/>
                </a:solidFill>
                <a:latin typeface="Calibri"/>
              </a:rPr>
              <a:t>•  Decongest by removing encroachments at choke points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0B2E4F"/>
                </a:solidFill>
                <a:latin typeface="Calibri"/>
              </a:rPr>
              <a:t>•  Strengthen public transport &amp; last-mile connectivity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The Role of Smart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3474720" cy="19659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8C28"/>
                </a:solidFill>
                <a:latin typeface="Calibri"/>
              </a:rPr>
              <a:t>Smart Sensors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Detect free/occupied parking bays in real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474720" cy="19659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8C28"/>
                </a:solidFill>
                <a:latin typeface="Calibri"/>
              </a:rPr>
              <a:t>Digital Sign 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28600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Dynamic messages for diversions &amp; warnings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474720" cy="19659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4592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8C28"/>
                </a:solidFill>
                <a:latin typeface="Calibri"/>
              </a:rPr>
              <a:t>ANPR Cameras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Automatic number-plate enforcement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57600"/>
            <a:ext cx="3474720" cy="19659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4048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8C28"/>
                </a:solidFill>
                <a:latin typeface="Calibri"/>
              </a:rPr>
              <a:t>Adaptive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AI-based signal timing on live traffic 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657600"/>
            <a:ext cx="3474720" cy="19659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84048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8C28"/>
                </a:solidFill>
                <a:latin typeface="Calibri"/>
              </a:rPr>
              <a:t>Real-time Updates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48056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Live traffic &amp; diversion info to citizens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657600"/>
            <a:ext cx="3474720" cy="19659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84048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8C28"/>
                </a:solidFill>
                <a:latin typeface="Calibri"/>
              </a:rPr>
              <a:t>Cashless Payment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48056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Transparent, leak-proof parking revenue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Case Study: Pune Parking Reform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37160" cy="46634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6CA8"/>
                </a:solidFill>
                <a:latin typeface="Calibri"/>
              </a:rPr>
              <a:t>Pune's on-street parking management (with ITDP India)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  <a:latin typeface="Calibri"/>
              </a:rPr>
              <a:t>•  Adopted a city parking policy — parking priced, not free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  <a:latin typeface="Calibri"/>
              </a:rPr>
              <a:t>•  Demand-based pricing: higher rates in busy zones &amp; peak hours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  <a:latin typeface="Calibri"/>
              </a:rPr>
              <a:t>•  Clearly demarcated, managed on-street bays with signage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  <a:latin typeface="Calibri"/>
              </a:rPr>
              <a:t>•  Cashless, self-paying system for transparent revenue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  <a:latin typeface="Calibri"/>
              </a:rPr>
              <a:t>•  Freed footpaths &amp; road space for people and buses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  <a:latin typeface="Calibri"/>
              </a:rPr>
              <a:t>•  Result: reduced haphazard parking &amp; smoother flow on key roads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555F6B"/>
                </a:solidFill>
                <a:latin typeface="Calibri"/>
              </a:rPr>
              <a:t>     – Lesson: policy + pricing + enforcement + technology together works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Action Roadmap for Patna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611880" cy="6858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611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Short Term (0-6 m)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36118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331720"/>
            <a:ext cx="3246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0B2E4F"/>
                </a:solidFill>
                <a:latin typeface="Calibri"/>
              </a:rPr>
              <a:t>•  Fix hotspots (Boring Rd, Station Rd)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0B2E4F"/>
                </a:solidFill>
                <a:latin typeface="Calibri"/>
              </a:rPr>
              <a:t>•  Demarcate bays + clear signage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0B2E4F"/>
                </a:solidFill>
                <a:latin typeface="Calibri"/>
              </a:rPr>
              <a:t>•  Clear encroachments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0B2E4F"/>
                </a:solidFill>
                <a:latin typeface="Calibri"/>
              </a:rPr>
              <a:t>•  Enforcement drive + towing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3611880" cy="685800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417320"/>
            <a:ext cx="3611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Medium (6-18 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103120"/>
            <a:ext cx="36118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2331720"/>
            <a:ext cx="3246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0B2E4F"/>
                </a:solidFill>
                <a:latin typeface="Calibri"/>
              </a:rPr>
              <a:t>•  Adopt a city parking policy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0B2E4F"/>
                </a:solidFill>
                <a:latin typeface="Calibri"/>
              </a:rPr>
              <a:t>•  Pay-and-park + app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0B2E4F"/>
                </a:solidFill>
                <a:latin typeface="Calibri"/>
              </a:rPr>
              <a:t>•  Real-time updates channel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0B2E4F"/>
                </a:solidFill>
                <a:latin typeface="Calibri"/>
              </a:rPr>
              <a:t>•  Metro diversion planning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3611880" cy="6858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17320"/>
            <a:ext cx="3611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Long Term (18 m+)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103120"/>
            <a:ext cx="36118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2331720"/>
            <a:ext cx="3246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0B2E4F"/>
                </a:solidFill>
                <a:latin typeface="Calibri"/>
              </a:rPr>
              <a:t>•  Multi-level parking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0B2E4F"/>
                </a:solidFill>
                <a:latin typeface="Calibri"/>
              </a:rPr>
              <a:t>•  City-wide ITS &amp; CCTV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0B2E4F"/>
                </a:solidFill>
                <a:latin typeface="Calibri"/>
              </a:rPr>
              <a:t>•  Integrated mobility plan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0B2E4F"/>
                </a:solidFill>
                <a:latin typeface="Calibri"/>
              </a:rPr>
              <a:t>•  Data-driven governance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394960"/>
            <a:ext cx="10881360" cy="7772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Already begun: In late 2025 Patna traffic police banned car/auto parking on Income Tax Golambar–Dak Bungalow &amp; Budh Marg–GPO Golambar to decongest key stretches.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•  Parking is a policy problem, not just an infrastructure one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•  Sign boards must be backed by real enforcement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•  Plan ahead for VIP movement &amp; metro diversions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•  Real-time updates keep citizens informed &amp; reduce chaos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•  Technology + pricing + enforcement must go together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•  Patna can adapt proven models like Pune's reform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109728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28C28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Session by Pourush Agarwal, DySP, Patna Traffic Police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AFC3D6"/>
                </a:solidFill>
                <a:latin typeface="Calibri"/>
              </a:rPr>
              <a:t>Let's build a well-managed, people-friendly Patna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