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Parking &amp; Traffic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F28C28"/>
                </a:solidFill>
                <a:latin typeface="Calibri"/>
              </a:rPr>
              <a:t>Issues and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A Session for City Managers  •  Patna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FC3D6"/>
                </a:solidFill>
                <a:latin typeface="Calibri"/>
              </a:rPr>
              <a:t>Urban Mobility  |  Duration: 1.5 hours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Why parking &amp; traffic matter for cities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The scale of the problem in Indian cities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Key parking issues — on-street &amp; off-street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Traffic management challenges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Root causes behind the chaos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Impact: economy, environment, safety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Solutions &amp; smart interventions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Case study: Pune on-street parking reform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0B2E4F"/>
                </a:solidFill>
                <a:latin typeface="Calibri"/>
              </a:rPr>
              <a:t>•  Action roadmap for Patna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Why Parking &amp; Traffic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Traffic reflects a city's quality of life &amp; governance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Poor parking eats scarce public road space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Congestion = lost productivity &amp; fuel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Directly affects safety, emergency access &amp; emissions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A city that manages mobility well attracts investment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554480"/>
            <a:ext cx="4206240" cy="3355848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627632"/>
            <a:ext cx="4059936" cy="27066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79" y="4370832"/>
            <a:ext cx="4206240" cy="5029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19" y="4370832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Congested urban street — mixed traffic &amp; on-street parking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Scale of the Problem in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1B6CA8"/>
                </a:solidFill>
                <a:latin typeface="Calibri"/>
              </a:rPr>
              <a:t>12.5 L+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55F6B"/>
                </a:solidFill>
                <a:latin typeface="Calibri"/>
              </a:rPr>
              <a:t>vehicles on Patna roads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828800"/>
            <a:ext cx="26060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10312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28C28"/>
                </a:solidFill>
                <a:latin typeface="Calibri"/>
              </a:rPr>
              <a:t>62%+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15468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55F6B"/>
                </a:solidFill>
                <a:latin typeface="Calibri"/>
              </a:rPr>
              <a:t>new vehicles are 2-wheelers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26060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C0392B"/>
                </a:solidFill>
                <a:latin typeface="Calibri"/>
              </a:rPr>
              <a:t>~8%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5468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55F6B"/>
                </a:solidFill>
                <a:latin typeface="Calibri"/>
              </a:rPr>
              <a:t>city area is road (vs 25% ideal)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828800"/>
            <a:ext cx="2606040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210312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2E8B57"/>
                </a:solidFill>
                <a:latin typeface="Calibri"/>
              </a:rPr>
              <a:t>798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3154680"/>
            <a:ext cx="2606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55F6B"/>
                </a:solidFill>
                <a:latin typeface="Calibri"/>
              </a:rPr>
              <a:t>traffic cops for the whole 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B2E4F"/>
                </a:solidFill>
                <a:latin typeface="Calibri"/>
              </a:rPr>
              <a:t>Vehicles have grown roughly threefold in a decade, while road space and enforcement staff have not kept pace — the core of Patna's congestion.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55F6B"/>
                </a:solidFill>
                <a:latin typeface="Calibri"/>
              </a:rPr>
              <a:t>Sources: Times of India (Patna) reports; NIUA public perception study.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Parking Issues in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583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Illegal roadside parking on both sides of arterial roads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Footpaths &amp; carriageways encroached by parked vehicles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Autos &amp; e-rickshaws halting anywhere near stations/markets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Very little organised off-street / paid parking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Choke points: Boring Road, Gandhi Maidan, Station Road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Weak enforcement — too few cops for 12.5L+ vehicles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Parking seen as free &amp; unlimited by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554480"/>
            <a:ext cx="4206240" cy="3393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1" y="1627632"/>
            <a:ext cx="4059936" cy="2743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79" y="4408048"/>
            <a:ext cx="4206240" cy="5029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19" y="4408048"/>
            <a:ext cx="4023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Illegal roadside parking narrowing a busy road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Traffic Management Challenges in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Mixed traffic — cars, 2-wheelers, autos, e-rickshaws, carts, pedestrians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Only ~8% of city area is road (well below the 25% norm)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Ongoing construction &amp; broken roads slow traffic to a crawl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Encroachment by vendors &amp; parked vehicles shrinks road width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Weak public transport pushes people to private vehicles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Severe manpower shortage — ~798 cops for 12.5L+ vehicles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2E4F"/>
                </a:solidFill>
                <a:latin typeface="Calibri"/>
              </a:rPr>
              <a:t>•  Peaks worsen during school &amp; office hours at key crossings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Root Causes Behind the Chaos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47472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CA8"/>
                </a:solidFill>
                <a:latin typeface="Calibri"/>
              </a:rPr>
              <a:t>Rapid Motorisation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Vehicle ownership rising faster than infra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47472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CA8"/>
                </a:solidFill>
                <a:latin typeface="Calibri"/>
              </a:rPr>
              <a:t>Weak Enforcement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Low penalties, poor compliance culture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47472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CA8"/>
                </a:solidFill>
                <a:latin typeface="Calibri"/>
              </a:rPr>
              <a:t>No Parking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33172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Parking treated as free &amp; unlimited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347472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CA8"/>
                </a:solidFill>
                <a:latin typeface="Calibri"/>
              </a:rPr>
              <a:t>Land-use Mismatch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8056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Dense commercial zones, no parking norms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03320"/>
            <a:ext cx="347472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CA8"/>
                </a:solidFill>
                <a:latin typeface="Calibri"/>
              </a:rPr>
              <a:t>Weak Public Transport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48056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Few reliable last-mile options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703320"/>
            <a:ext cx="347472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6CA8"/>
                </a:solidFill>
                <a:latin typeface="Calibri"/>
              </a:rPr>
              <a:t>Fragmented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48056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Multiple agencies, unclear ownership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Impact of Poor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611880" cy="64008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3611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94560"/>
            <a:ext cx="36118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Lost man-hours in jams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Higher fuel &amp; logistics cost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Reduced business footfall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Environmental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94560"/>
            <a:ext cx="36118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Higher vehicular emissions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Idling pollution &amp; noise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Poor air quality (AQI)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554480"/>
            <a:ext cx="361188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554480"/>
            <a:ext cx="36118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Social &amp; 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94560"/>
            <a:ext cx="36118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More accidents &amp; fatalities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Blocked emergency vehicles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0B2E4F"/>
                </a:solidFill>
                <a:latin typeface="Calibri"/>
              </a:rPr>
              <a:t>•  Stress &amp; road 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Solutions: Smarter Parking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Priced, demand-based on-street parking (pay-and-park)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Clearly marked bays + no-parking zones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Multi-level &amp; underground off-street parking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Digital parking — apps, sensors, cashless payment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Strict enforcement: towing, fines, CCTV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Parking norms in building bye-laws for new projects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Revenue from parking funds better streets &amp; transit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Solutions: Traffic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Adaptive / synchronised signal systems (ITS)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Dedicated lanes for buses &amp; non-motorised transport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Strengthen public transport &amp; last-mile connectivity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Junction redesign &amp; pedestrian-first street design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Decongest by removing encroachments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Real-time monitoring, CCTV &amp; data-driven decisions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0B2E4F"/>
                </a:solidFill>
                <a:latin typeface="Calibri"/>
              </a:rPr>
              <a:t>•  Public awareness &amp; lane discipline campaigns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Role of Smart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474720" cy="1920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Smart Sensors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Detect free/occupied bays in real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474720" cy="1920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Parking Apps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3172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Locate, book &amp; pay for parking digitally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474720" cy="1920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373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ANPR Cameras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33172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Automatic number-plate enforcement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3474720" cy="1920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Adaptive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8056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AI-based signal timing on traffic 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703320"/>
            <a:ext cx="3474720" cy="1920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Data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48056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Live congestion &amp; occupancy analytics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703320"/>
            <a:ext cx="3474720" cy="1920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8862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8C28"/>
                </a:solidFill>
                <a:latin typeface="Calibri"/>
              </a:rPr>
              <a:t>Cashless Payment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480560"/>
            <a:ext cx="3108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Transparent, leak-proof revenue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Case Study: Pune Parking Reform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37160" cy="466344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B6CA8"/>
                </a:solidFill>
                <a:latin typeface="Calibri"/>
              </a:rPr>
              <a:t>Pune's on-street parking management (with ITDP India)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Adopted a city parking policy — parking priced, not free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Demand-based pricing: higher rates in busy zones &amp; peak hours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Clearly demarcated, managed on-street bays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Cashless, self-paying system for transparent revenue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Freed footpaths &amp; road space for people and buses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0B2E4F"/>
                </a:solidFill>
                <a:latin typeface="Calibri"/>
              </a:rPr>
              <a:t>•  Result: reduced haphazard parking &amp; smoother flow on key roads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     – Lesson: policy + pricing + enforcement + tech together 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Action Roadmap for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182880"/>
            <a:ext cx="640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28C28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3611880" cy="6858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611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Short Term (0-6 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361188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Fix hotspot zones (Boring Rd, Station Rd)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Demarcate parking bays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Clear encroachments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Enforcement drive + towing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463040"/>
            <a:ext cx="3611880" cy="68580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63040"/>
            <a:ext cx="3611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Medium (6-18 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61188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1B6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Adopt a city parking policy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Pay-and-park + app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Signal &amp; junction fixes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Strengthen city bus service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611880" cy="685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463040"/>
            <a:ext cx="3611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Long Term (18 m+)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48840"/>
            <a:ext cx="361188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377440"/>
            <a:ext cx="320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Multi-level parking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City-wide ITS &amp; CCTV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Integrated mobility plan</a:t>
            </a:r>
          </a:p>
          <a:p>
            <a:pPr>
              <a:spcAft>
                <a:spcPts val="900"/>
              </a:spcAft>
            </a:pPr>
            <a:r>
              <a:rPr sz="1300" b="0">
                <a:solidFill>
                  <a:srgbClr val="0B2E4F"/>
                </a:solidFill>
                <a:latin typeface="Calibri"/>
              </a:rPr>
              <a:t>•  Data-driven governance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440680"/>
            <a:ext cx="10881360" cy="77724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Already begun: In late 2025 Patna traffic police banned car/auto parking on Income Tax Golambar–Dak Bungalow &amp; Budh Marg–GPO Golambar to decongest key stretches.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•  Parking is a policy problem, not just an infrastructure one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•  Free &amp; unmanaged parking is the root of much congestion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•  Pricing + enforcement + technology must go together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•  Strong public transport reduces parking demand at source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•  Data and clear ownership drive sustainable results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•  Patna can adapt proven models like Pune's reform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109728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28C2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AFC3D6"/>
                </a:solidFill>
                <a:latin typeface="Calibri"/>
              </a:rPr>
              <a:t>Let's build a well-managed, people-friendly Patna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